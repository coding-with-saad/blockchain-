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62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4006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Today we are demystifying one of the most powerful and groundbreaking inventions in modern mathematics and computer science: Zero-Knowledge Proofs, or ZKPs. By the end of this presentation, you will clearly understand how it is possible to prove you know a secret without ever revealing that secret, and why this is completely transforming privacy and blockchain.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begin with a relatable problem. When you show your ID card to enter a venue or prove you are 18, you are forced to show your full name, exact home address, and ID number. You only needed to prove one fact: 'I am an adult', but you gave away everything. In blockchain, this problem is even worse because all transactions are public. Zero-Knowledge Proofs solve this exact dilemma.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exactly is a Zero-Knowledge Proof? In simple words, it is a mathematical protocol between two parties: the Prover and the Verifier. The Prover wants to convince the Verifier that a specific statement is true—for instance, 'I have sufficient funds in my account' or 'I know the password'—without revealing the account balance or the password itself.</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understand the math easily, think of the classic 'Ali Baba Cave' story. Alice knows the magic password to open a locked door deep inside a circular cave. Bob stands outside and asks her to exit via Path A or Path B. If she doesn't know the password, she only has a 50% chance of guessing right. But if Bob repeats this test 20 times, and Alice exits the correct path every single time, Bob is 99.999% certain she knows the secret, yet Alice never told him the password!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computer scientists and mathematicians, any valid Zero-Knowledge protocol must strictly satisfy three properties: Completeness (the truth will always be accepted), Soundness (a liar can never fake a proof), and Zero-Knowledge (no private data is ever leaked). These three pillars make ZKPs mathematically bulletproof.</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you study blockchain protocols, you will encounter two main acronyms: SNARKs and STARKs. SNARKs are tiny in size—just a few hundred bytes—making them cheap to verify on Ethereum. STARKs, on the other hand, eliminate the need for a 'trusted setup ceremony' and are mathematically resistant to future quantum computers.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ZKPs are not just theoretical; they power three major pillars of technology today. First, private payments where financial details remain confidential. Second, Layer-2 scaling: instead of Ethereum executing 10,000 transactions one by one, a ZK-Rollup executes them off-chain and sends a single lightweight proof back to Ethereum. Third, digital identity, where you can prove eligibility without revealing sensitive personal records.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look at real implementations. Zcash proved that private money is possible. Next, zkSync and Starknet are leading the multi-billion-dollar Layer-2 race, scaling Ethereum transactions to thousands per second. Finally, Mina Protocol uses recursive ZKPs to keep an entire blockchain compressed to just 22 Kilobytes—the size of a single picture!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are computer scientists so excited about ZKPs? It combines three benefits that were previously thought to be contradictory: absolute privacy, massive data compression, and complete trustlessness. You don't have to trust a company or a bank; the math mathematically verifies the claim.</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Despite their power, ZKPs face hurdles. Generating proofs is computationally expensive and requires significant GPU power. Additionally, writing ZK software requires specialized cryptographic knowledge. Finally, regulators are working to ensure privacy tools protect honest users while preventing illegal activities.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Looking to the future, specialized hardware chips (ZK-ASICs) will make generating proofs almost instantaneous on your smartphone. Furthermore, ZKPs are now intersecting with Artificial Intelligence through ZK-ML, ensuring AI outputs are verified without exposing proprietary data. ZKP will soon become the invisible backbone of everyday internet privacy.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Zero-Knowledge Proofs teach us that we don't have to choose between verification and privacy. We can have both. Thank you all for your attention, and I would love to answer any questions or hear your thoughts!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1097280" y="1645920"/>
            <a:ext cx="109728" cy="32918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63040" y="1645920"/>
            <a:ext cx="9601200" cy="3474720"/>
          </a:xfrm>
          <a:prstGeom prst="rect">
            <a:avLst/>
          </a:prstGeom>
          <a:noFill/>
        </p:spPr>
        <p:txBody>
          <a:bodyPr wrap="square">
            <a:spAutoFit/>
          </a:bodyPr>
          <a:lstStyle/>
          <a:p>
            <a:r>
              <a:rPr sz="1300" b="1" i="0">
                <a:solidFill>
                  <a:srgbClr val="818CF8"/>
                </a:solidFill>
                <a:latin typeface="Arial"/>
              </a:rPr>
              <a:t>ADVANCED CRYPTOGRAPHY &amp; WEB3 PRIVACY</a:t>
            </a:r>
          </a:p>
          <a:p>
            <a:pPr>
              <a:spcBef>
                <a:spcPts val="1400"/>
              </a:spcBef>
            </a:pPr>
            <a:r>
              <a:rPr sz="3800" b="1" i="0">
                <a:solidFill>
                  <a:srgbClr val="F8FAFC"/>
                </a:solidFill>
                <a:latin typeface="Georgia"/>
              </a:rPr>
              <a:t>Zero-Knowledge Proofs (ZKPs)
&amp; Blockchain Privacy</a:t>
            </a:r>
          </a:p>
          <a:p>
            <a:pPr>
              <a:spcBef>
                <a:spcPts val="1600"/>
              </a:spcBef>
            </a:pPr>
            <a:r>
              <a:rPr sz="1800" b="0" i="0">
                <a:solidFill>
                  <a:srgbClr val="CBD5E1"/>
                </a:solidFill>
                <a:latin typeface="Calibri"/>
              </a:rPr>
              <a:t>How to Prove the Truth Without Revealing the Secret
A Clear Guide for Students and Institutes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731520" y="365760"/>
            <a:ext cx="10728655"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320040"/>
          </a:xfrm>
          <a:prstGeom prst="rect">
            <a:avLst/>
          </a:prstGeom>
          <a:noFill/>
        </p:spPr>
        <p:txBody>
          <a:bodyPr wrap="square" lIns="0" tIns="0" rIns="0" bIns="0">
            <a:spAutoFit/>
          </a:bodyPr>
          <a:lstStyle/>
          <a:p>
            <a:r>
              <a:rPr sz="1100" b="1" i="0">
                <a:solidFill>
                  <a:srgbClr val="6366F1"/>
                </a:solidFill>
                <a:latin typeface="Arial"/>
              </a:rPr>
              <a:t>1. INTRODUCTION</a:t>
            </a:r>
          </a:p>
        </p:txBody>
      </p:sp>
      <p:sp>
        <p:nvSpPr>
          <p:cNvPr id="4" name="TextBox 3"/>
          <p:cNvSpPr txBox="1"/>
          <p:nvPr/>
        </p:nvSpPr>
        <p:spPr>
          <a:xfrm>
            <a:off x="731520" y="777240"/>
            <a:ext cx="10728655" cy="640080"/>
          </a:xfrm>
          <a:prstGeom prst="rect">
            <a:avLst/>
          </a:prstGeom>
          <a:noFill/>
        </p:spPr>
        <p:txBody>
          <a:bodyPr wrap="square" lIns="0" tIns="0" rIns="0" bIns="0">
            <a:spAutoFit/>
          </a:bodyPr>
          <a:lstStyle/>
          <a:p>
            <a:r>
              <a:rPr sz="2400" b="1" i="0">
                <a:solidFill>
                  <a:srgbClr val="0F172A"/>
                </a:solidFill>
                <a:latin typeface="Georgia"/>
              </a:rPr>
              <a:t>The Privacy Dilemma in the Digital World</a:t>
            </a:r>
          </a:p>
        </p:txBody>
      </p:sp>
      <p:sp>
        <p:nvSpPr>
          <p:cNvPr id="5" name="Rounded Rectangle 4"/>
          <p:cNvSpPr/>
          <p:nvPr/>
        </p:nvSpPr>
        <p:spPr>
          <a:xfrm>
            <a:off x="731520" y="1554480"/>
            <a:ext cx="521208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r>
              <a:rPr sz="1700" b="1" i="0">
                <a:solidFill>
                  <a:srgbClr val="0F172A"/>
                </a:solidFill>
                <a:latin typeface="Georgia"/>
              </a:rPr>
              <a:t>🛑 The Over-Sharing Problem (Web2)</a:t>
            </a:r>
          </a:p>
          <a:p>
            <a:pPr>
              <a:spcBef>
                <a:spcPts val="800"/>
              </a:spcBef>
            </a:pPr>
            <a:r>
              <a:rPr sz="1300" b="1" i="0">
                <a:solidFill>
                  <a:srgbClr val="0F172A"/>
                </a:solidFill>
                <a:latin typeface="Calibri"/>
              </a:rPr>
              <a:t>• ID Verification: </a:t>
            </a:r>
            <a:r>
              <a:rPr sz="1300" b="0" i="0">
                <a:solidFill>
                  <a:srgbClr val="334155"/>
                </a:solidFill>
                <a:latin typeface="Calibri"/>
              </a:rPr>
              <a:t>Proving you are over 18 forces you to expose your name, exact birthdate, and home address.</a:t>
            </a:r>
          </a:p>
          <a:p>
            <a:pPr>
              <a:spcBef>
                <a:spcPts val="800"/>
              </a:spcBef>
            </a:pPr>
            <a:r>
              <a:rPr sz="1300" b="1" i="0">
                <a:solidFill>
                  <a:srgbClr val="0F172A"/>
                </a:solidFill>
                <a:latin typeface="Calibri"/>
              </a:rPr>
              <a:t>• Financial Data: </a:t>
            </a:r>
            <a:r>
              <a:rPr sz="1300" b="0" i="0">
                <a:solidFill>
                  <a:srgbClr val="334155"/>
                </a:solidFill>
                <a:latin typeface="Calibri"/>
              </a:rPr>
              <a:t>Applying for a loan exposes your entire transaction history to central banks.</a:t>
            </a:r>
          </a:p>
          <a:p>
            <a:pPr>
              <a:spcBef>
                <a:spcPts val="800"/>
              </a:spcBef>
            </a:pPr>
            <a:r>
              <a:rPr sz="1300" b="1" i="0">
                <a:solidFill>
                  <a:srgbClr val="0F172A"/>
                </a:solidFill>
                <a:latin typeface="Calibri"/>
              </a:rPr>
              <a:t>• Central Points of Failure: </a:t>
            </a:r>
            <a:r>
              <a:rPr sz="1300" b="0" i="0">
                <a:solidFill>
                  <a:srgbClr val="334155"/>
                </a:solidFill>
                <a:latin typeface="Calibri"/>
              </a:rPr>
              <a:t>Companies store massive databases of our personal data, leading to frequent data breaches.</a:t>
            </a:r>
          </a:p>
        </p:txBody>
      </p:sp>
      <p:sp>
        <p:nvSpPr>
          <p:cNvPr id="6" name="Rounded Rectangle 5"/>
          <p:cNvSpPr/>
          <p:nvPr/>
        </p:nvSpPr>
        <p:spPr>
          <a:xfrm>
            <a:off x="6248095" y="1554480"/>
            <a:ext cx="5212080" cy="3931920"/>
          </a:xfrm>
          <a:prstGeom prst="roundRect">
            <a:avLst/>
          </a:prstGeom>
          <a:solidFill>
            <a:srgbClr val="FFFF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r>
              <a:rPr sz="1700" b="1" i="0">
                <a:solidFill>
                  <a:srgbClr val="1E1B4B"/>
                </a:solidFill>
                <a:latin typeface="Georgia"/>
              </a:rPr>
              <a:t>🌐 The Transparency Paradox (Web3)</a:t>
            </a:r>
          </a:p>
          <a:p>
            <a:pPr>
              <a:spcBef>
                <a:spcPts val="800"/>
              </a:spcBef>
            </a:pPr>
            <a:r>
              <a:rPr sz="1300" b="1" i="0">
                <a:solidFill>
                  <a:srgbClr val="0F172A"/>
                </a:solidFill>
                <a:latin typeface="Calibri"/>
              </a:rPr>
              <a:t>• Public Ledgers: </a:t>
            </a:r>
            <a:r>
              <a:rPr sz="1300" b="0" i="0">
                <a:solidFill>
                  <a:srgbClr val="334155"/>
                </a:solidFill>
                <a:latin typeface="Calibri"/>
              </a:rPr>
              <a:t>Blockchains are 100% transparent by design for security.</a:t>
            </a:r>
          </a:p>
          <a:p>
            <a:pPr>
              <a:spcBef>
                <a:spcPts val="800"/>
              </a:spcBef>
            </a:pPr>
            <a:r>
              <a:rPr sz="1300" b="1" i="0">
                <a:solidFill>
                  <a:srgbClr val="0F172A"/>
                </a:solidFill>
                <a:latin typeface="Calibri"/>
              </a:rPr>
              <a:t>• Zero Privacy: </a:t>
            </a:r>
            <a:r>
              <a:rPr sz="1300" b="0" i="0">
                <a:solidFill>
                  <a:srgbClr val="334155"/>
                </a:solidFill>
                <a:latin typeface="Calibri"/>
              </a:rPr>
              <a:t>Anyone can view wallet balances, transaction timestamps, and trading history.</a:t>
            </a:r>
          </a:p>
          <a:p>
            <a:pPr>
              <a:spcBef>
                <a:spcPts val="800"/>
              </a:spcBef>
            </a:pPr>
            <a:r>
              <a:rPr sz="1300" b="1" i="0">
                <a:solidFill>
                  <a:srgbClr val="0F172A"/>
                </a:solidFill>
                <a:latin typeface="Calibri"/>
              </a:rPr>
              <a:t>• The Core Conflict: </a:t>
            </a:r>
            <a:r>
              <a:rPr sz="1300" b="0" i="0">
                <a:solidFill>
                  <a:srgbClr val="334155"/>
                </a:solidFill>
                <a:latin typeface="Calibri"/>
              </a:rPr>
              <a:t>How can we verify authenticity and truth without sacrificing confidentiality?</a:t>
            </a:r>
          </a:p>
        </p:txBody>
      </p:sp>
      <p:sp>
        <p:nvSpPr>
          <p:cNvPr id="7" name="Rounded Rectangle 6"/>
          <p:cNvSpPr/>
          <p:nvPr/>
        </p:nvSpPr>
        <p:spPr>
          <a:xfrm>
            <a:off x="731520" y="5760720"/>
            <a:ext cx="10728655" cy="64008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300" b="1" i="0">
                <a:solidFill>
                  <a:srgbClr val="4338CA"/>
                </a:solidFill>
                <a:latin typeface="Calibri"/>
              </a:rPr>
              <a:t>💡 KEY TAKEAWAY:  </a:t>
            </a:r>
            <a:r>
              <a:rPr sz="1300" b="0" i="0">
                <a:solidFill>
                  <a:srgbClr val="1E1B4B"/>
                </a:solidFill>
                <a:latin typeface="Calibri"/>
              </a:rPr>
              <a:t>Current verification methods force us to over-share sensitive data just to prove simple facts.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731520" y="365760"/>
            <a:ext cx="10728655"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320040"/>
          </a:xfrm>
          <a:prstGeom prst="rect">
            <a:avLst/>
          </a:prstGeom>
          <a:noFill/>
        </p:spPr>
        <p:txBody>
          <a:bodyPr wrap="square" lIns="0" tIns="0" rIns="0" bIns="0">
            <a:spAutoFit/>
          </a:bodyPr>
          <a:lstStyle/>
          <a:p>
            <a:r>
              <a:rPr sz="1100" b="1" i="0">
                <a:solidFill>
                  <a:srgbClr val="6366F1"/>
                </a:solidFill>
                <a:latin typeface="Arial"/>
              </a:rPr>
              <a:t>2. DEFINITION</a:t>
            </a:r>
          </a:p>
        </p:txBody>
      </p:sp>
      <p:sp>
        <p:nvSpPr>
          <p:cNvPr id="4" name="TextBox 3"/>
          <p:cNvSpPr txBox="1"/>
          <p:nvPr/>
        </p:nvSpPr>
        <p:spPr>
          <a:xfrm>
            <a:off x="731520" y="777240"/>
            <a:ext cx="10728655" cy="640080"/>
          </a:xfrm>
          <a:prstGeom prst="rect">
            <a:avLst/>
          </a:prstGeom>
          <a:noFill/>
        </p:spPr>
        <p:txBody>
          <a:bodyPr wrap="square" lIns="0" tIns="0" rIns="0" bIns="0">
            <a:spAutoFit/>
          </a:bodyPr>
          <a:lstStyle/>
          <a:p>
            <a:r>
              <a:rPr sz="2400" b="1" i="0">
                <a:solidFill>
                  <a:srgbClr val="0F172A"/>
                </a:solidFill>
                <a:latin typeface="Georgia"/>
              </a:rPr>
              <a:t>What is a Zero-Knowledge Proof (ZKP)?</a:t>
            </a:r>
          </a:p>
        </p:txBody>
      </p:sp>
      <p:sp>
        <p:nvSpPr>
          <p:cNvPr id="5" name="Rounded Rectangle 4"/>
          <p:cNvSpPr/>
          <p:nvPr/>
        </p:nvSpPr>
        <p:spPr>
          <a:xfrm>
            <a:off x="731520" y="1554480"/>
            <a:ext cx="3393338"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ctr"/>
            <a:r>
              <a:rPr sz="1600" b="1" i="0">
                <a:solidFill>
                  <a:srgbClr val="0F172A"/>
                </a:solidFill>
                <a:latin typeface="Georgia"/>
              </a:rPr>
              <a:t>👤 The Prover</a:t>
            </a:r>
          </a:p>
          <a:p>
            <a:pPr>
              <a:spcBef>
                <a:spcPts val="800"/>
              </a:spcBef>
            </a:pPr>
            <a:r>
              <a:rPr sz="1300" b="1" i="0">
                <a:solidFill>
                  <a:srgbClr val="0F172A"/>
                </a:solidFill>
                <a:latin typeface="Calibri"/>
              </a:rPr>
              <a:t>• Role: </a:t>
            </a:r>
            <a:r>
              <a:rPr sz="1300" b="0" i="0">
                <a:solidFill>
                  <a:srgbClr val="334155"/>
                </a:solidFill>
                <a:latin typeface="Calibri"/>
              </a:rPr>
              <a:t>The party that possesses confidential information.</a:t>
            </a:r>
          </a:p>
          <a:p>
            <a:pPr>
              <a:spcBef>
                <a:spcPts val="800"/>
              </a:spcBef>
            </a:pPr>
            <a:r>
              <a:rPr sz="1300" b="1" i="0">
                <a:solidFill>
                  <a:srgbClr val="0F172A"/>
                </a:solidFill>
                <a:latin typeface="Calibri"/>
              </a:rPr>
              <a:t>• Goal: </a:t>
            </a:r>
            <a:r>
              <a:rPr sz="1300" b="0" i="0">
                <a:solidFill>
                  <a:srgbClr val="334155"/>
                </a:solidFill>
                <a:latin typeface="Calibri"/>
              </a:rPr>
              <a:t>Wants to prove that a statement is mathematically true.</a:t>
            </a:r>
          </a:p>
          <a:p>
            <a:pPr>
              <a:spcBef>
                <a:spcPts val="800"/>
              </a:spcBef>
            </a:pPr>
            <a:r>
              <a:rPr sz="1300" b="1" i="0">
                <a:solidFill>
                  <a:srgbClr val="0F172A"/>
                </a:solidFill>
                <a:latin typeface="Calibri"/>
              </a:rPr>
              <a:t>• Action: </a:t>
            </a:r>
            <a:r>
              <a:rPr sz="1300" b="0" i="0">
                <a:solidFill>
                  <a:srgbClr val="334155"/>
                </a:solidFill>
                <a:latin typeface="Calibri"/>
              </a:rPr>
              <a:t>Generates a cryptographic proof without sharing the underlying secret.</a:t>
            </a:r>
          </a:p>
        </p:txBody>
      </p:sp>
      <p:sp>
        <p:nvSpPr>
          <p:cNvPr id="6" name="Rounded Rectangle 5"/>
          <p:cNvSpPr/>
          <p:nvPr/>
        </p:nvSpPr>
        <p:spPr>
          <a:xfrm>
            <a:off x="4399178" y="1554480"/>
            <a:ext cx="3393338" cy="3931920"/>
          </a:xfrm>
          <a:prstGeom prst="roundRect">
            <a:avLst/>
          </a:prstGeom>
          <a:solidFill>
            <a:srgbClr val="FFFF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ctr"/>
            <a:r>
              <a:rPr sz="1600" b="1" i="0">
                <a:solidFill>
                  <a:srgbClr val="1E1B4B"/>
                </a:solidFill>
                <a:latin typeface="Georgia"/>
              </a:rPr>
              <a:t>🛡️ The Cryptographic Proof</a:t>
            </a:r>
          </a:p>
          <a:p>
            <a:pPr>
              <a:spcBef>
                <a:spcPts val="800"/>
              </a:spcBef>
            </a:pPr>
            <a:r>
              <a:rPr sz="1300" b="1" i="0">
                <a:solidFill>
                  <a:srgbClr val="0F172A"/>
                </a:solidFill>
                <a:latin typeface="Calibri"/>
              </a:rPr>
              <a:t>• Definition: </a:t>
            </a:r>
            <a:r>
              <a:rPr sz="1300" b="0" i="0">
                <a:solidFill>
                  <a:srgbClr val="334155"/>
                </a:solidFill>
                <a:latin typeface="Calibri"/>
              </a:rPr>
              <a:t>A compact mathematical certificate.</a:t>
            </a:r>
          </a:p>
          <a:p>
            <a:pPr>
              <a:spcBef>
                <a:spcPts val="800"/>
              </a:spcBef>
            </a:pPr>
            <a:r>
              <a:rPr sz="1300" b="1" i="0">
                <a:solidFill>
                  <a:srgbClr val="0F172A"/>
                </a:solidFill>
                <a:latin typeface="Calibri"/>
              </a:rPr>
              <a:t>• Integrity: </a:t>
            </a:r>
            <a:r>
              <a:rPr sz="1300" b="0" i="0">
                <a:solidFill>
                  <a:srgbClr val="334155"/>
                </a:solidFill>
                <a:latin typeface="Calibri"/>
              </a:rPr>
              <a:t>Mathematically guarantees the statement's validity.</a:t>
            </a:r>
          </a:p>
          <a:p>
            <a:pPr>
              <a:spcBef>
                <a:spcPts val="800"/>
              </a:spcBef>
            </a:pPr>
            <a:r>
              <a:rPr sz="1300" b="1" i="0">
                <a:solidFill>
                  <a:srgbClr val="0F172A"/>
                </a:solidFill>
                <a:latin typeface="Calibri"/>
              </a:rPr>
              <a:t>• Zero Leaks: </a:t>
            </a:r>
            <a:r>
              <a:rPr sz="1300" b="0" i="0">
                <a:solidFill>
                  <a:srgbClr val="334155"/>
                </a:solidFill>
                <a:latin typeface="Calibri"/>
              </a:rPr>
              <a:t>Contains zero bits of the underlying confidential data.</a:t>
            </a:r>
          </a:p>
        </p:txBody>
      </p:sp>
      <p:sp>
        <p:nvSpPr>
          <p:cNvPr id="7" name="Rounded Rectangle 6"/>
          <p:cNvSpPr/>
          <p:nvPr/>
        </p:nvSpPr>
        <p:spPr>
          <a:xfrm>
            <a:off x="8066836" y="1554480"/>
            <a:ext cx="3393338"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ctr"/>
            <a:r>
              <a:rPr sz="1600" b="1" i="0">
                <a:solidFill>
                  <a:srgbClr val="0F172A"/>
                </a:solidFill>
                <a:latin typeface="Georgia"/>
              </a:rPr>
              <a:t>🔍 The Verifier</a:t>
            </a:r>
          </a:p>
          <a:p>
            <a:pPr>
              <a:spcBef>
                <a:spcPts val="800"/>
              </a:spcBef>
            </a:pPr>
            <a:r>
              <a:rPr sz="1300" b="1" i="0">
                <a:solidFill>
                  <a:srgbClr val="0F172A"/>
                </a:solidFill>
                <a:latin typeface="Calibri"/>
              </a:rPr>
              <a:t>• Role: </a:t>
            </a:r>
            <a:r>
              <a:rPr sz="1300" b="0" i="0">
                <a:solidFill>
                  <a:srgbClr val="334155"/>
                </a:solidFill>
                <a:latin typeface="Calibri"/>
              </a:rPr>
              <a:t>The party checking the proof.</a:t>
            </a:r>
          </a:p>
          <a:p>
            <a:pPr>
              <a:spcBef>
                <a:spcPts val="800"/>
              </a:spcBef>
            </a:pPr>
            <a:r>
              <a:rPr sz="1300" b="1" i="0">
                <a:solidFill>
                  <a:srgbClr val="0F172A"/>
                </a:solidFill>
                <a:latin typeface="Calibri"/>
              </a:rPr>
              <a:t>• Goal: </a:t>
            </a:r>
            <a:r>
              <a:rPr sz="1300" b="0" i="0">
                <a:solidFill>
                  <a:srgbClr val="334155"/>
                </a:solidFill>
                <a:latin typeface="Calibri"/>
              </a:rPr>
              <a:t>Wants absolute certainty that the claim is true.</a:t>
            </a:r>
          </a:p>
          <a:p>
            <a:pPr>
              <a:spcBef>
                <a:spcPts val="800"/>
              </a:spcBef>
            </a:pPr>
            <a:r>
              <a:rPr sz="1300" b="1" i="0">
                <a:solidFill>
                  <a:srgbClr val="0F172A"/>
                </a:solidFill>
                <a:latin typeface="Calibri"/>
              </a:rPr>
              <a:t>• Action: </a:t>
            </a:r>
            <a:r>
              <a:rPr sz="1300" b="0" i="0">
                <a:solidFill>
                  <a:srgbClr val="334155"/>
                </a:solidFill>
                <a:latin typeface="Calibri"/>
              </a:rPr>
              <a:t>Verifies the mathematical proof in milliseconds without seeing the data.</a:t>
            </a:r>
          </a:p>
        </p:txBody>
      </p:sp>
      <p:sp>
        <p:nvSpPr>
          <p:cNvPr id="8" name="Rounded Rectangle 7"/>
          <p:cNvSpPr/>
          <p:nvPr/>
        </p:nvSpPr>
        <p:spPr>
          <a:xfrm>
            <a:off x="731520" y="5760720"/>
            <a:ext cx="10728655" cy="64008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300" b="1" i="0">
                <a:solidFill>
                  <a:srgbClr val="4338CA"/>
                </a:solidFill>
                <a:latin typeface="Calibri"/>
              </a:rPr>
              <a:t>💡 KEY TAKEAWAY:  </a:t>
            </a:r>
            <a:r>
              <a:rPr sz="1300" b="0" i="0">
                <a:solidFill>
                  <a:srgbClr val="1E1B4B"/>
                </a:solidFill>
                <a:latin typeface="Calibri"/>
              </a:rPr>
              <a:t>A ZKP allows one party (Prover) to prove a fact to another (Verifier) with zero knowledge leaked.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731520" y="365760"/>
            <a:ext cx="10728655"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320040"/>
          </a:xfrm>
          <a:prstGeom prst="rect">
            <a:avLst/>
          </a:prstGeom>
          <a:noFill/>
        </p:spPr>
        <p:txBody>
          <a:bodyPr wrap="square" lIns="0" tIns="0" rIns="0" bIns="0">
            <a:spAutoFit/>
          </a:bodyPr>
          <a:lstStyle/>
          <a:p>
            <a:r>
              <a:rPr sz="1100" b="1" i="0">
                <a:solidFill>
                  <a:srgbClr val="6366F1"/>
                </a:solidFill>
                <a:latin typeface="Arial"/>
              </a:rPr>
              <a:t>3. CONCEPTUAL ANALOGY</a:t>
            </a:r>
          </a:p>
        </p:txBody>
      </p:sp>
      <p:sp>
        <p:nvSpPr>
          <p:cNvPr id="4" name="TextBox 3"/>
          <p:cNvSpPr txBox="1"/>
          <p:nvPr/>
        </p:nvSpPr>
        <p:spPr>
          <a:xfrm>
            <a:off x="731520" y="777240"/>
            <a:ext cx="10728655" cy="640080"/>
          </a:xfrm>
          <a:prstGeom prst="rect">
            <a:avLst/>
          </a:prstGeom>
          <a:noFill/>
        </p:spPr>
        <p:txBody>
          <a:bodyPr wrap="square" lIns="0" tIns="0" rIns="0" bIns="0">
            <a:spAutoFit/>
          </a:bodyPr>
          <a:lstStyle/>
          <a:p>
            <a:r>
              <a:rPr sz="2400" b="1" i="0">
                <a:solidFill>
                  <a:srgbClr val="0F172A"/>
                </a:solidFill>
                <a:latin typeface="Georgia"/>
              </a:rPr>
              <a:t>Understanding ZKPs: The Cave of Secrets</a:t>
            </a:r>
          </a:p>
        </p:txBody>
      </p:sp>
      <p:sp>
        <p:nvSpPr>
          <p:cNvPr id="5" name="Rounded Rectangle 4"/>
          <p:cNvSpPr/>
          <p:nvPr/>
        </p:nvSpPr>
        <p:spPr>
          <a:xfrm>
            <a:off x="731520" y="1554480"/>
            <a:ext cx="521208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r>
              <a:rPr sz="1700" b="1" i="0">
                <a:solidFill>
                  <a:srgbClr val="0F172A"/>
                </a:solidFill>
                <a:latin typeface="Georgia"/>
              </a:rPr>
              <a:t>🏔️ The Setup &amp; The Secret</a:t>
            </a:r>
          </a:p>
          <a:p>
            <a:pPr>
              <a:spcBef>
                <a:spcPts val="800"/>
              </a:spcBef>
            </a:pPr>
            <a:r>
              <a:rPr sz="1300" b="1" i="0">
                <a:solidFill>
                  <a:srgbClr val="0F172A"/>
                </a:solidFill>
                <a:latin typeface="Calibri"/>
              </a:rPr>
              <a:t>• The Cave: </a:t>
            </a:r>
            <a:r>
              <a:rPr sz="1300" b="0" i="0">
                <a:solidFill>
                  <a:srgbClr val="334155"/>
                </a:solidFill>
                <a:latin typeface="Calibri"/>
              </a:rPr>
              <a:t>A circular cave with two branches (Path A and Path B) connected by a locked magic door.</a:t>
            </a:r>
          </a:p>
          <a:p>
            <a:pPr>
              <a:spcBef>
                <a:spcPts val="800"/>
              </a:spcBef>
            </a:pPr>
            <a:r>
              <a:rPr sz="1300" b="1" i="0">
                <a:solidFill>
                  <a:srgbClr val="0F172A"/>
                </a:solidFill>
                <a:latin typeface="Calibri"/>
              </a:rPr>
              <a:t>• The Secret: </a:t>
            </a:r>
            <a:r>
              <a:rPr sz="1300" b="0" i="0">
                <a:solidFill>
                  <a:srgbClr val="334155"/>
                </a:solidFill>
                <a:latin typeface="Calibri"/>
              </a:rPr>
              <a:t>Alice knows the secret passcode to open the magic door inside the cave.</a:t>
            </a:r>
          </a:p>
          <a:p>
            <a:pPr>
              <a:spcBef>
                <a:spcPts val="800"/>
              </a:spcBef>
            </a:pPr>
            <a:r>
              <a:rPr sz="1300" b="1" i="0">
                <a:solidFill>
                  <a:srgbClr val="0F172A"/>
                </a:solidFill>
                <a:latin typeface="Calibri"/>
              </a:rPr>
              <a:t>• The Goal: </a:t>
            </a:r>
            <a:r>
              <a:rPr sz="1300" b="0" i="0">
                <a:solidFill>
                  <a:srgbClr val="334155"/>
                </a:solidFill>
                <a:latin typeface="Calibri"/>
              </a:rPr>
              <a:t>Alice wants to prove to Bob that she knows the passcode without whispering it to him.</a:t>
            </a:r>
          </a:p>
        </p:txBody>
      </p:sp>
      <p:sp>
        <p:nvSpPr>
          <p:cNvPr id="6" name="Rounded Rectangle 5"/>
          <p:cNvSpPr/>
          <p:nvPr/>
        </p:nvSpPr>
        <p:spPr>
          <a:xfrm>
            <a:off x="6248095" y="1554480"/>
            <a:ext cx="5212080" cy="3931920"/>
          </a:xfrm>
          <a:prstGeom prst="roundRect">
            <a:avLst/>
          </a:prstGeom>
          <a:solidFill>
            <a:srgbClr val="FFFF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r>
              <a:rPr sz="1700" b="1" i="0">
                <a:solidFill>
                  <a:srgbClr val="1E1B4B"/>
                </a:solidFill>
                <a:latin typeface="Georgia"/>
              </a:rPr>
              <a:t>🔄 The Verification Process</a:t>
            </a:r>
          </a:p>
          <a:p>
            <a:pPr>
              <a:spcBef>
                <a:spcPts val="800"/>
              </a:spcBef>
            </a:pPr>
            <a:r>
              <a:rPr sz="1300" b="1" i="0">
                <a:solidFill>
                  <a:srgbClr val="0F172A"/>
                </a:solidFill>
                <a:latin typeface="Calibri"/>
              </a:rPr>
              <a:t>• The Test: </a:t>
            </a:r>
            <a:r>
              <a:rPr sz="1300" b="0" i="0">
                <a:solidFill>
                  <a:srgbClr val="334155"/>
                </a:solidFill>
                <a:latin typeface="Calibri"/>
              </a:rPr>
              <a:t>Alice walks into the cave (taking Path A or B). Bob stays outside.</a:t>
            </a:r>
          </a:p>
          <a:p>
            <a:pPr>
              <a:spcBef>
                <a:spcPts val="800"/>
              </a:spcBef>
            </a:pPr>
            <a:r>
              <a:rPr sz="1300" b="1" i="0">
                <a:solidFill>
                  <a:srgbClr val="0F172A"/>
                </a:solidFill>
                <a:latin typeface="Calibri"/>
              </a:rPr>
              <a:t>• The Challenge: </a:t>
            </a:r>
            <a:r>
              <a:rPr sz="1300" b="0" i="0">
                <a:solidFill>
                  <a:srgbClr val="334155"/>
                </a:solidFill>
                <a:latin typeface="Calibri"/>
              </a:rPr>
              <a:t>Bob yells out: 'Come out from Path B!'</a:t>
            </a:r>
          </a:p>
          <a:p>
            <a:pPr>
              <a:spcBef>
                <a:spcPts val="800"/>
              </a:spcBef>
            </a:pPr>
            <a:r>
              <a:rPr sz="1300" b="1" i="0">
                <a:solidFill>
                  <a:srgbClr val="0F172A"/>
                </a:solidFill>
                <a:latin typeface="Calibri"/>
              </a:rPr>
              <a:t>• The Proof: </a:t>
            </a:r>
            <a:r>
              <a:rPr sz="1300" b="0" i="0">
                <a:solidFill>
                  <a:srgbClr val="334155"/>
                </a:solidFill>
                <a:latin typeface="Calibri"/>
              </a:rPr>
              <a:t>If Alice knows the password, she can always pass through the magic door and exit Path B.</a:t>
            </a:r>
          </a:p>
          <a:p>
            <a:pPr>
              <a:spcBef>
                <a:spcPts val="800"/>
              </a:spcBef>
            </a:pPr>
            <a:r>
              <a:rPr sz="1300" b="1" i="0">
                <a:solidFill>
                  <a:srgbClr val="0F172A"/>
                </a:solidFill>
                <a:latin typeface="Calibri"/>
              </a:rPr>
              <a:t>• Mathematical Certainty: </a:t>
            </a:r>
            <a:r>
              <a:rPr sz="1300" b="0" i="0">
                <a:solidFill>
                  <a:srgbClr val="334155"/>
                </a:solidFill>
                <a:latin typeface="Calibri"/>
              </a:rPr>
              <a:t>Repeating this test 20 times reduces the chance of lucky guessing to 1 in 1,000,000!</a:t>
            </a:r>
          </a:p>
        </p:txBody>
      </p:sp>
      <p:sp>
        <p:nvSpPr>
          <p:cNvPr id="7" name="Rounded Rectangle 6"/>
          <p:cNvSpPr/>
          <p:nvPr/>
        </p:nvSpPr>
        <p:spPr>
          <a:xfrm>
            <a:off x="731520" y="5760720"/>
            <a:ext cx="10728655" cy="64008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300" b="1" i="0">
                <a:solidFill>
                  <a:srgbClr val="4338CA"/>
                </a:solidFill>
                <a:latin typeface="Calibri"/>
              </a:rPr>
              <a:t>💡 KEY TAKEAWAY:  </a:t>
            </a:r>
            <a:r>
              <a:rPr sz="1300" b="0" i="0">
                <a:solidFill>
                  <a:srgbClr val="1E1B4B"/>
                </a:solidFill>
                <a:latin typeface="Calibri"/>
              </a:rPr>
              <a:t>Repeated cryptographic challenges create absolute certainty without revealing the password.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731520" y="365760"/>
            <a:ext cx="10728655"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320040"/>
          </a:xfrm>
          <a:prstGeom prst="rect">
            <a:avLst/>
          </a:prstGeom>
          <a:noFill/>
        </p:spPr>
        <p:txBody>
          <a:bodyPr wrap="square" lIns="0" tIns="0" rIns="0" bIns="0">
            <a:spAutoFit/>
          </a:bodyPr>
          <a:lstStyle/>
          <a:p>
            <a:r>
              <a:rPr sz="1100" b="1" i="0">
                <a:solidFill>
                  <a:srgbClr val="6366F1"/>
                </a:solidFill>
                <a:latin typeface="Arial"/>
              </a:rPr>
              <a:t>4. MATHEMATICAL FOUNDATION</a:t>
            </a:r>
          </a:p>
        </p:txBody>
      </p:sp>
      <p:sp>
        <p:nvSpPr>
          <p:cNvPr id="4" name="TextBox 3"/>
          <p:cNvSpPr txBox="1"/>
          <p:nvPr/>
        </p:nvSpPr>
        <p:spPr>
          <a:xfrm>
            <a:off x="731520" y="777240"/>
            <a:ext cx="10728655" cy="640080"/>
          </a:xfrm>
          <a:prstGeom prst="rect">
            <a:avLst/>
          </a:prstGeom>
          <a:noFill/>
        </p:spPr>
        <p:txBody>
          <a:bodyPr wrap="square" lIns="0" tIns="0" rIns="0" bIns="0">
            <a:spAutoFit/>
          </a:bodyPr>
          <a:lstStyle/>
          <a:p>
            <a:r>
              <a:rPr sz="2400" b="1" i="0">
                <a:solidFill>
                  <a:srgbClr val="0F172A"/>
                </a:solidFill>
                <a:latin typeface="Georgia"/>
              </a:rPr>
              <a:t>The 3 Core Properties of Every ZKP</a:t>
            </a:r>
          </a:p>
        </p:txBody>
      </p:sp>
      <p:sp>
        <p:nvSpPr>
          <p:cNvPr id="5" name="Rounded Rectangle 4"/>
          <p:cNvSpPr/>
          <p:nvPr/>
        </p:nvSpPr>
        <p:spPr>
          <a:xfrm>
            <a:off x="731520" y="1554480"/>
            <a:ext cx="3393338"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ctr"/>
            <a:r>
              <a:rPr sz="1600" b="1" i="0">
                <a:solidFill>
                  <a:srgbClr val="0F172A"/>
                </a:solidFill>
                <a:latin typeface="Georgia"/>
              </a:rPr>
              <a:t>1. Completeness</a:t>
            </a:r>
          </a:p>
          <a:p>
            <a:pPr>
              <a:spcBef>
                <a:spcPts val="800"/>
              </a:spcBef>
            </a:pPr>
            <a:r>
              <a:rPr sz="1300" b="1" i="0">
                <a:solidFill>
                  <a:srgbClr val="0F172A"/>
                </a:solidFill>
                <a:latin typeface="Calibri"/>
              </a:rPr>
              <a:t>• Core Meaning: </a:t>
            </a:r>
            <a:r>
              <a:rPr sz="1300" b="0" i="0">
                <a:solidFill>
                  <a:srgbClr val="334155"/>
                </a:solidFill>
                <a:latin typeface="Calibri"/>
              </a:rPr>
              <a:t>Truth always succeeds.</a:t>
            </a:r>
          </a:p>
          <a:p>
            <a:pPr>
              <a:spcBef>
                <a:spcPts val="800"/>
              </a:spcBef>
            </a:pPr>
            <a:r>
              <a:rPr sz="1300" b="1" i="0">
                <a:solidFill>
                  <a:srgbClr val="0F172A"/>
                </a:solidFill>
                <a:latin typeface="Calibri"/>
              </a:rPr>
              <a:t>• Mechanism: </a:t>
            </a:r>
            <a:r>
              <a:rPr sz="1300" b="0" i="0">
                <a:solidFill>
                  <a:srgbClr val="334155"/>
                </a:solidFill>
                <a:latin typeface="Calibri"/>
              </a:rPr>
              <a:t>If the statement is true and both parties are honest, the verifier will always be convinced.</a:t>
            </a:r>
          </a:p>
          <a:p>
            <a:pPr>
              <a:spcBef>
                <a:spcPts val="800"/>
              </a:spcBef>
            </a:pPr>
            <a:r>
              <a:rPr sz="1300" b="1" i="0">
                <a:solidFill>
                  <a:srgbClr val="0F172A"/>
                </a:solidFill>
                <a:latin typeface="Calibri"/>
              </a:rPr>
              <a:t>• Guarantee: </a:t>
            </a:r>
            <a:r>
              <a:rPr sz="1300" b="0" i="0">
                <a:solidFill>
                  <a:srgbClr val="334155"/>
                </a:solidFill>
                <a:latin typeface="Calibri"/>
              </a:rPr>
              <a:t>Valid claims are never falsely rejected.</a:t>
            </a:r>
          </a:p>
        </p:txBody>
      </p:sp>
      <p:sp>
        <p:nvSpPr>
          <p:cNvPr id="6" name="Rounded Rectangle 5"/>
          <p:cNvSpPr/>
          <p:nvPr/>
        </p:nvSpPr>
        <p:spPr>
          <a:xfrm>
            <a:off x="4399178" y="1554480"/>
            <a:ext cx="3393338" cy="3931920"/>
          </a:xfrm>
          <a:prstGeom prst="roundRect">
            <a:avLst/>
          </a:prstGeom>
          <a:solidFill>
            <a:srgbClr val="FFFF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ctr"/>
            <a:r>
              <a:rPr sz="1600" b="1" i="0">
                <a:solidFill>
                  <a:srgbClr val="1E1B4B"/>
                </a:solidFill>
                <a:latin typeface="Georgia"/>
              </a:rPr>
              <a:t>2. Soundness</a:t>
            </a:r>
          </a:p>
          <a:p>
            <a:pPr>
              <a:spcBef>
                <a:spcPts val="800"/>
              </a:spcBef>
            </a:pPr>
            <a:r>
              <a:rPr sz="1300" b="1" i="0">
                <a:solidFill>
                  <a:srgbClr val="0F172A"/>
                </a:solidFill>
                <a:latin typeface="Calibri"/>
              </a:rPr>
              <a:t>• Core Meaning: </a:t>
            </a:r>
            <a:r>
              <a:rPr sz="1300" b="0" i="0">
                <a:solidFill>
                  <a:srgbClr val="334155"/>
                </a:solidFill>
                <a:latin typeface="Calibri"/>
              </a:rPr>
              <a:t>Cheating is impossible.</a:t>
            </a:r>
          </a:p>
          <a:p>
            <a:pPr>
              <a:spcBef>
                <a:spcPts val="800"/>
              </a:spcBef>
            </a:pPr>
            <a:r>
              <a:rPr sz="1300" b="1" i="0">
                <a:solidFill>
                  <a:srgbClr val="0F172A"/>
                </a:solidFill>
                <a:latin typeface="Calibri"/>
              </a:rPr>
              <a:t>• Mechanism: </a:t>
            </a:r>
            <a:r>
              <a:rPr sz="1300" b="0" i="0">
                <a:solidFill>
                  <a:srgbClr val="334155"/>
                </a:solidFill>
                <a:latin typeface="Calibri"/>
              </a:rPr>
              <a:t>If the statement is false, a dishonest prover cannot trick the verifier (except negligible odds).</a:t>
            </a:r>
          </a:p>
          <a:p>
            <a:pPr>
              <a:spcBef>
                <a:spcPts val="800"/>
              </a:spcBef>
            </a:pPr>
            <a:r>
              <a:rPr sz="1300" b="1" i="0">
                <a:solidFill>
                  <a:srgbClr val="0F172A"/>
                </a:solidFill>
                <a:latin typeface="Calibri"/>
              </a:rPr>
              <a:t>• Guarantee: </a:t>
            </a:r>
            <a:r>
              <a:rPr sz="1300" b="0" i="0">
                <a:solidFill>
                  <a:srgbClr val="334155"/>
                </a:solidFill>
                <a:latin typeface="Calibri"/>
              </a:rPr>
              <a:t>Fake proofs cannot pass mathematical checks.</a:t>
            </a:r>
          </a:p>
        </p:txBody>
      </p:sp>
      <p:sp>
        <p:nvSpPr>
          <p:cNvPr id="7" name="Rounded Rectangle 6"/>
          <p:cNvSpPr/>
          <p:nvPr/>
        </p:nvSpPr>
        <p:spPr>
          <a:xfrm>
            <a:off x="8066836" y="1554480"/>
            <a:ext cx="3393338"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ctr"/>
            <a:r>
              <a:rPr sz="1600" b="1" i="0">
                <a:solidFill>
                  <a:srgbClr val="0F172A"/>
                </a:solidFill>
                <a:latin typeface="Georgia"/>
              </a:rPr>
              <a:t>3. Zero-Knowledge</a:t>
            </a:r>
          </a:p>
          <a:p>
            <a:pPr>
              <a:spcBef>
                <a:spcPts val="800"/>
              </a:spcBef>
            </a:pPr>
            <a:r>
              <a:rPr sz="1300" b="1" i="0">
                <a:solidFill>
                  <a:srgbClr val="0F172A"/>
                </a:solidFill>
                <a:latin typeface="Calibri"/>
              </a:rPr>
              <a:t>• Core Meaning: </a:t>
            </a:r>
            <a:r>
              <a:rPr sz="1300" b="0" i="0">
                <a:solidFill>
                  <a:srgbClr val="334155"/>
                </a:solidFill>
                <a:latin typeface="Calibri"/>
              </a:rPr>
              <a:t>No secrets leaked.</a:t>
            </a:r>
          </a:p>
          <a:p>
            <a:pPr>
              <a:spcBef>
                <a:spcPts val="800"/>
              </a:spcBef>
            </a:pPr>
            <a:r>
              <a:rPr sz="1300" b="1" i="0">
                <a:solidFill>
                  <a:srgbClr val="0F172A"/>
                </a:solidFill>
                <a:latin typeface="Calibri"/>
              </a:rPr>
              <a:t>• Mechanism: </a:t>
            </a:r>
            <a:r>
              <a:rPr sz="1300" b="0" i="0">
                <a:solidFill>
                  <a:srgbClr val="334155"/>
                </a:solidFill>
                <a:latin typeface="Calibri"/>
              </a:rPr>
              <a:t>The verifier learns nothing except that the statement is true.</a:t>
            </a:r>
          </a:p>
          <a:p>
            <a:pPr>
              <a:spcBef>
                <a:spcPts val="800"/>
              </a:spcBef>
            </a:pPr>
            <a:r>
              <a:rPr sz="1300" b="1" i="0">
                <a:solidFill>
                  <a:srgbClr val="0F172A"/>
                </a:solidFill>
                <a:latin typeface="Calibri"/>
              </a:rPr>
              <a:t>• Guarantee: </a:t>
            </a:r>
            <a:r>
              <a:rPr sz="1300" b="0" i="0">
                <a:solidFill>
                  <a:srgbClr val="334155"/>
                </a:solidFill>
                <a:latin typeface="Calibri"/>
              </a:rPr>
              <a:t>Zero sensitive information is exposed during verification.</a:t>
            </a:r>
          </a:p>
        </p:txBody>
      </p:sp>
      <p:sp>
        <p:nvSpPr>
          <p:cNvPr id="8" name="Rounded Rectangle 7"/>
          <p:cNvSpPr/>
          <p:nvPr/>
        </p:nvSpPr>
        <p:spPr>
          <a:xfrm>
            <a:off x="731520" y="5760720"/>
            <a:ext cx="10728655" cy="64008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300" b="1" i="0">
                <a:solidFill>
                  <a:srgbClr val="4338CA"/>
                </a:solidFill>
                <a:latin typeface="Calibri"/>
              </a:rPr>
              <a:t>💡 KEY TAKEAWAY:  </a:t>
            </a:r>
            <a:r>
              <a:rPr sz="1300" b="0" i="0">
                <a:solidFill>
                  <a:srgbClr val="1E1B4B"/>
                </a:solidFill>
                <a:latin typeface="Calibri"/>
              </a:rPr>
              <a:t>Completeness ensures valid proofs pass; Soundness prevents fakes; Zero-Knowledge protects secrets.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731520" y="365760"/>
            <a:ext cx="10728655"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320040"/>
          </a:xfrm>
          <a:prstGeom prst="rect">
            <a:avLst/>
          </a:prstGeom>
          <a:noFill/>
        </p:spPr>
        <p:txBody>
          <a:bodyPr wrap="square" lIns="0" tIns="0" rIns="0" bIns="0">
            <a:spAutoFit/>
          </a:bodyPr>
          <a:lstStyle/>
          <a:p>
            <a:r>
              <a:rPr sz="1100" b="1" i="0">
                <a:solidFill>
                  <a:srgbClr val="6366F1"/>
                </a:solidFill>
                <a:latin typeface="Arial"/>
              </a:rPr>
              <a:t>5. TECHNICAL COMPARISON</a:t>
            </a:r>
          </a:p>
        </p:txBody>
      </p:sp>
      <p:sp>
        <p:nvSpPr>
          <p:cNvPr id="4" name="TextBox 3"/>
          <p:cNvSpPr txBox="1"/>
          <p:nvPr/>
        </p:nvSpPr>
        <p:spPr>
          <a:xfrm>
            <a:off x="731520" y="777240"/>
            <a:ext cx="10728655" cy="640080"/>
          </a:xfrm>
          <a:prstGeom prst="rect">
            <a:avLst/>
          </a:prstGeom>
          <a:noFill/>
        </p:spPr>
        <p:txBody>
          <a:bodyPr wrap="square" lIns="0" tIns="0" rIns="0" bIns="0">
            <a:spAutoFit/>
          </a:bodyPr>
          <a:lstStyle/>
          <a:p>
            <a:r>
              <a:rPr sz="2400" b="1" i="0">
                <a:solidFill>
                  <a:srgbClr val="0F172A"/>
                </a:solidFill>
                <a:latin typeface="Georgia"/>
              </a:rPr>
              <a:t>The Two Major ZK Families: SNARKs vs. STARKs</a:t>
            </a:r>
          </a:p>
        </p:txBody>
      </p:sp>
      <p:sp>
        <p:nvSpPr>
          <p:cNvPr id="5" name="Rounded Rectangle 4"/>
          <p:cNvSpPr/>
          <p:nvPr/>
        </p:nvSpPr>
        <p:spPr>
          <a:xfrm>
            <a:off x="731520" y="1554480"/>
            <a:ext cx="521208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r>
              <a:rPr sz="1700" b="1" i="0">
                <a:solidFill>
                  <a:srgbClr val="0F172A"/>
                </a:solidFill>
                <a:latin typeface="Georgia"/>
              </a:rPr>
              <a:t>⚡ ZK-SNARKs (Succinct &amp; Compact)</a:t>
            </a:r>
          </a:p>
          <a:p>
            <a:pPr>
              <a:spcBef>
                <a:spcPts val="800"/>
              </a:spcBef>
            </a:pPr>
            <a:r>
              <a:rPr sz="1300" b="1" i="0">
                <a:solidFill>
                  <a:srgbClr val="0F172A"/>
                </a:solidFill>
                <a:latin typeface="Calibri"/>
              </a:rPr>
              <a:t>• Full Name: </a:t>
            </a:r>
            <a:r>
              <a:rPr sz="1300" b="0" i="0">
                <a:solidFill>
                  <a:srgbClr val="334155"/>
                </a:solidFill>
                <a:latin typeface="Calibri"/>
              </a:rPr>
              <a:t>Zero-Knowledge Succinct Non-Interactive Argument of Knowledge.</a:t>
            </a:r>
          </a:p>
          <a:p>
            <a:pPr>
              <a:spcBef>
                <a:spcPts val="800"/>
              </a:spcBef>
            </a:pPr>
            <a:r>
              <a:rPr sz="1300" b="1" i="0">
                <a:solidFill>
                  <a:srgbClr val="0F172A"/>
                </a:solidFill>
                <a:latin typeface="Calibri"/>
              </a:rPr>
              <a:t>• Proof Size: </a:t>
            </a:r>
            <a:r>
              <a:rPr sz="1300" b="0" i="0">
                <a:solidFill>
                  <a:srgbClr val="334155"/>
                </a:solidFill>
                <a:latin typeface="Calibri"/>
              </a:rPr>
              <a:t>Extremely small (hundreds of bytes), making verification blazing fast and cheap on-chain.</a:t>
            </a:r>
          </a:p>
          <a:p>
            <a:pPr>
              <a:spcBef>
                <a:spcPts val="800"/>
              </a:spcBef>
            </a:pPr>
            <a:r>
              <a:rPr sz="1300" b="1" i="0">
                <a:solidFill>
                  <a:srgbClr val="0F172A"/>
                </a:solidFill>
                <a:latin typeface="Calibri"/>
              </a:rPr>
              <a:t>• Trusted Setup: </a:t>
            </a:r>
            <a:r>
              <a:rPr sz="1300" b="0" i="0">
                <a:solidFill>
                  <a:srgbClr val="334155"/>
                </a:solidFill>
                <a:latin typeface="Calibri"/>
              </a:rPr>
              <a:t>Requires an initial multi-party cryptographic setup ceremony.</a:t>
            </a:r>
          </a:p>
          <a:p>
            <a:pPr>
              <a:spcBef>
                <a:spcPts val="800"/>
              </a:spcBef>
            </a:pPr>
            <a:r>
              <a:rPr sz="1300" b="1" i="0">
                <a:solidFill>
                  <a:srgbClr val="0F172A"/>
                </a:solidFill>
                <a:latin typeface="Calibri"/>
              </a:rPr>
              <a:t>• Adoption: </a:t>
            </a:r>
            <a:r>
              <a:rPr sz="1300" b="0" i="0">
                <a:solidFill>
                  <a:srgbClr val="334155"/>
                </a:solidFill>
                <a:latin typeface="Calibri"/>
              </a:rPr>
              <a:t>Widely used in Zcash and early Ethereum privacy protocols.</a:t>
            </a:r>
          </a:p>
        </p:txBody>
      </p:sp>
      <p:sp>
        <p:nvSpPr>
          <p:cNvPr id="6" name="Rounded Rectangle 5"/>
          <p:cNvSpPr/>
          <p:nvPr/>
        </p:nvSpPr>
        <p:spPr>
          <a:xfrm>
            <a:off x="6248095" y="1554480"/>
            <a:ext cx="5212080" cy="3931920"/>
          </a:xfrm>
          <a:prstGeom prst="roundRect">
            <a:avLst/>
          </a:prstGeom>
          <a:solidFill>
            <a:srgbClr val="FFFF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r>
              <a:rPr sz="1700" b="1" i="0">
                <a:solidFill>
                  <a:srgbClr val="1E1B4B"/>
                </a:solidFill>
                <a:latin typeface="Georgia"/>
              </a:rPr>
              <a:t>🛡️ ZK-STARKs (Transparent &amp; Scalable)</a:t>
            </a:r>
          </a:p>
          <a:p>
            <a:pPr>
              <a:spcBef>
                <a:spcPts val="800"/>
              </a:spcBef>
            </a:pPr>
            <a:r>
              <a:rPr sz="1300" b="1" i="0">
                <a:solidFill>
                  <a:srgbClr val="0F172A"/>
                </a:solidFill>
                <a:latin typeface="Calibri"/>
              </a:rPr>
              <a:t>• Full Name: </a:t>
            </a:r>
            <a:r>
              <a:rPr sz="1300" b="0" i="0">
                <a:solidFill>
                  <a:srgbClr val="334155"/>
                </a:solidFill>
                <a:latin typeface="Calibri"/>
              </a:rPr>
              <a:t>Zero-Knowledge Scalable Transparent Argument of Knowledge.</a:t>
            </a:r>
          </a:p>
          <a:p>
            <a:pPr>
              <a:spcBef>
                <a:spcPts val="800"/>
              </a:spcBef>
            </a:pPr>
            <a:r>
              <a:rPr sz="1300" b="1" i="0">
                <a:solidFill>
                  <a:srgbClr val="0F172A"/>
                </a:solidFill>
                <a:latin typeface="Calibri"/>
              </a:rPr>
              <a:t>• No Trusted Setup: </a:t>
            </a:r>
            <a:r>
              <a:rPr sz="1300" b="0" i="0">
                <a:solidFill>
                  <a:srgbClr val="334155"/>
                </a:solidFill>
                <a:latin typeface="Calibri"/>
              </a:rPr>
              <a:t>100% transparent public parameters; immune to setup compromise.</a:t>
            </a:r>
          </a:p>
          <a:p>
            <a:pPr>
              <a:spcBef>
                <a:spcPts val="800"/>
              </a:spcBef>
            </a:pPr>
            <a:r>
              <a:rPr sz="1300" b="1" i="0">
                <a:solidFill>
                  <a:srgbClr val="0F172A"/>
                </a:solidFill>
                <a:latin typeface="Calibri"/>
              </a:rPr>
              <a:t>• Quantum-Resistant: </a:t>
            </a:r>
            <a:r>
              <a:rPr sz="1300" b="0" i="0">
                <a:solidFill>
                  <a:srgbClr val="334155"/>
                </a:solidFill>
                <a:latin typeface="Calibri"/>
              </a:rPr>
              <a:t>Protected against future quantum computer attacks.</a:t>
            </a:r>
          </a:p>
          <a:p>
            <a:pPr>
              <a:spcBef>
                <a:spcPts val="800"/>
              </a:spcBef>
            </a:pPr>
            <a:r>
              <a:rPr sz="1300" b="1" i="0">
                <a:solidFill>
                  <a:srgbClr val="0F172A"/>
                </a:solidFill>
                <a:latin typeface="Calibri"/>
              </a:rPr>
              <a:t>• Proof Size: </a:t>
            </a:r>
            <a:r>
              <a:rPr sz="1300" b="0" i="0">
                <a:solidFill>
                  <a:srgbClr val="334155"/>
                </a:solidFill>
                <a:latin typeface="Calibri"/>
              </a:rPr>
              <a:t>Larger proof sizes, but faster at proving massive computational loads (e.g., Starknet).</a:t>
            </a:r>
          </a:p>
        </p:txBody>
      </p:sp>
      <p:sp>
        <p:nvSpPr>
          <p:cNvPr id="7" name="Rounded Rectangle 6"/>
          <p:cNvSpPr/>
          <p:nvPr/>
        </p:nvSpPr>
        <p:spPr>
          <a:xfrm>
            <a:off x="731520" y="5760720"/>
            <a:ext cx="10728655" cy="64008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300" b="1" i="0">
                <a:solidFill>
                  <a:srgbClr val="4338CA"/>
                </a:solidFill>
                <a:latin typeface="Calibri"/>
              </a:rPr>
              <a:t>💡 KEY TAKEAWAY:  </a:t>
            </a:r>
            <a:r>
              <a:rPr sz="1300" b="0" i="0">
                <a:solidFill>
                  <a:srgbClr val="1E1B4B"/>
                </a:solidFill>
                <a:latin typeface="Calibri"/>
              </a:rPr>
              <a:t>SNARKs are ultra-compact for fast verification; STARKs are transparent and quantum-resistant.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731520" y="365760"/>
            <a:ext cx="10728655"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320040"/>
          </a:xfrm>
          <a:prstGeom prst="rect">
            <a:avLst/>
          </a:prstGeom>
          <a:noFill/>
        </p:spPr>
        <p:txBody>
          <a:bodyPr wrap="square" lIns="0" tIns="0" rIns="0" bIns="0">
            <a:spAutoFit/>
          </a:bodyPr>
          <a:lstStyle/>
          <a:p>
            <a:r>
              <a:rPr sz="1100" b="1" i="0">
                <a:solidFill>
                  <a:srgbClr val="6366F1"/>
                </a:solidFill>
                <a:latin typeface="Arial"/>
              </a:rPr>
              <a:t>6. PRACTICAL APPLICATIONS</a:t>
            </a:r>
          </a:p>
        </p:txBody>
      </p:sp>
      <p:sp>
        <p:nvSpPr>
          <p:cNvPr id="4" name="TextBox 3"/>
          <p:cNvSpPr txBox="1"/>
          <p:nvPr/>
        </p:nvSpPr>
        <p:spPr>
          <a:xfrm>
            <a:off x="731520" y="777240"/>
            <a:ext cx="10728655" cy="640080"/>
          </a:xfrm>
          <a:prstGeom prst="rect">
            <a:avLst/>
          </a:prstGeom>
          <a:noFill/>
        </p:spPr>
        <p:txBody>
          <a:bodyPr wrap="square" lIns="0" tIns="0" rIns="0" bIns="0">
            <a:spAutoFit/>
          </a:bodyPr>
          <a:lstStyle/>
          <a:p>
            <a:r>
              <a:rPr sz="2400" b="1" i="0">
                <a:solidFill>
                  <a:srgbClr val="0F172A"/>
                </a:solidFill>
                <a:latin typeface="Georgia"/>
              </a:rPr>
              <a:t>Where are Zero-Knowledge Proofs Used?</a:t>
            </a:r>
          </a:p>
        </p:txBody>
      </p:sp>
      <p:sp>
        <p:nvSpPr>
          <p:cNvPr id="5" name="Rounded Rectangle 4"/>
          <p:cNvSpPr/>
          <p:nvPr/>
        </p:nvSpPr>
        <p:spPr>
          <a:xfrm>
            <a:off x="731520" y="1554480"/>
            <a:ext cx="3393338"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ctr"/>
            <a:r>
              <a:rPr sz="1600" b="1" i="0">
                <a:solidFill>
                  <a:srgbClr val="0F172A"/>
                </a:solidFill>
                <a:latin typeface="Georgia"/>
              </a:rPr>
              <a:t>🔒 Private Finance</a:t>
            </a:r>
          </a:p>
          <a:p>
            <a:pPr>
              <a:spcBef>
                <a:spcPts val="800"/>
              </a:spcBef>
            </a:pPr>
            <a:r>
              <a:rPr sz="1300" b="1" i="0">
                <a:solidFill>
                  <a:srgbClr val="0F172A"/>
                </a:solidFill>
                <a:latin typeface="Calibri"/>
              </a:rPr>
              <a:t>• Shielded Transfers: </a:t>
            </a:r>
            <a:r>
              <a:rPr sz="1300" b="0" i="0">
                <a:solidFill>
                  <a:srgbClr val="334155"/>
                </a:solidFill>
                <a:latin typeface="Calibri"/>
              </a:rPr>
              <a:t>Hide sender, receiver, and transaction amounts.</a:t>
            </a:r>
          </a:p>
          <a:p>
            <a:pPr>
              <a:spcBef>
                <a:spcPts val="800"/>
              </a:spcBef>
            </a:pPr>
            <a:r>
              <a:rPr sz="1300" b="1" i="0">
                <a:solidFill>
                  <a:srgbClr val="0F172A"/>
                </a:solidFill>
                <a:latin typeface="Calibri"/>
              </a:rPr>
              <a:t>• Audit Compliance: </a:t>
            </a:r>
            <a:r>
              <a:rPr sz="1300" b="0" i="0">
                <a:solidFill>
                  <a:srgbClr val="334155"/>
                </a:solidFill>
                <a:latin typeface="Calibri"/>
              </a:rPr>
              <a:t>Prove taxes or reserves without revealing client books.</a:t>
            </a:r>
          </a:p>
          <a:p>
            <a:pPr>
              <a:spcBef>
                <a:spcPts val="800"/>
              </a:spcBef>
            </a:pPr>
            <a:r>
              <a:rPr sz="1300" b="1" i="0">
                <a:solidFill>
                  <a:srgbClr val="0F172A"/>
                </a:solidFill>
                <a:latin typeface="Calibri"/>
              </a:rPr>
              <a:t>• Institutional Trading: </a:t>
            </a:r>
            <a:r>
              <a:rPr sz="1300" b="0" i="0">
                <a:solidFill>
                  <a:srgbClr val="334155"/>
                </a:solidFill>
                <a:latin typeface="Calibri"/>
              </a:rPr>
              <a:t>Prevent front-running and MEV bot exploits.</a:t>
            </a:r>
          </a:p>
        </p:txBody>
      </p:sp>
      <p:sp>
        <p:nvSpPr>
          <p:cNvPr id="6" name="Rounded Rectangle 5"/>
          <p:cNvSpPr/>
          <p:nvPr/>
        </p:nvSpPr>
        <p:spPr>
          <a:xfrm>
            <a:off x="4399178" y="1554480"/>
            <a:ext cx="3393338" cy="3931920"/>
          </a:xfrm>
          <a:prstGeom prst="roundRect">
            <a:avLst/>
          </a:prstGeom>
          <a:solidFill>
            <a:srgbClr val="FFFF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ctr"/>
            <a:r>
              <a:rPr sz="1600" b="1" i="0">
                <a:solidFill>
                  <a:srgbClr val="1E1B4B"/>
                </a:solidFill>
                <a:latin typeface="Georgia"/>
              </a:rPr>
              <a:t>🚀 Layer-2 Scaling</a:t>
            </a:r>
          </a:p>
          <a:p>
            <a:pPr>
              <a:spcBef>
                <a:spcPts val="800"/>
              </a:spcBef>
            </a:pPr>
            <a:r>
              <a:rPr sz="1300" b="1" i="0">
                <a:solidFill>
                  <a:srgbClr val="0F172A"/>
                </a:solidFill>
                <a:latin typeface="Calibri"/>
              </a:rPr>
              <a:t>• ZK-Rollups: </a:t>
            </a:r>
            <a:r>
              <a:rPr sz="1300" b="0" i="0">
                <a:solidFill>
                  <a:srgbClr val="334155"/>
                </a:solidFill>
                <a:latin typeface="Calibri"/>
              </a:rPr>
              <a:t>Bundle 10,000+ transactions into a single tiny proof.</a:t>
            </a:r>
          </a:p>
          <a:p>
            <a:pPr>
              <a:spcBef>
                <a:spcPts val="800"/>
              </a:spcBef>
            </a:pPr>
            <a:r>
              <a:rPr sz="1300" b="1" i="0">
                <a:solidFill>
                  <a:srgbClr val="0F172A"/>
                </a:solidFill>
                <a:latin typeface="Calibri"/>
              </a:rPr>
              <a:t>• Fee Reduction: </a:t>
            </a:r>
            <a:r>
              <a:rPr sz="1300" b="0" i="0">
                <a:solidFill>
                  <a:srgbClr val="334155"/>
                </a:solidFill>
                <a:latin typeface="Calibri"/>
              </a:rPr>
              <a:t>Slashing Ethereum gas fees by 90-99%.</a:t>
            </a:r>
          </a:p>
          <a:p>
            <a:pPr>
              <a:spcBef>
                <a:spcPts val="800"/>
              </a:spcBef>
            </a:pPr>
            <a:r>
              <a:rPr sz="1300" b="1" i="0">
                <a:solidFill>
                  <a:srgbClr val="0F172A"/>
                </a:solidFill>
                <a:latin typeface="Calibri"/>
              </a:rPr>
              <a:t>• Instant Finality: </a:t>
            </a:r>
            <a:r>
              <a:rPr sz="1300" b="0" i="0">
                <a:solidFill>
                  <a:srgbClr val="334155"/>
                </a:solidFill>
                <a:latin typeface="Calibri"/>
              </a:rPr>
              <a:t>Validated cryptographically on Layer-1 immediately.</a:t>
            </a:r>
          </a:p>
        </p:txBody>
      </p:sp>
      <p:sp>
        <p:nvSpPr>
          <p:cNvPr id="7" name="Rounded Rectangle 6"/>
          <p:cNvSpPr/>
          <p:nvPr/>
        </p:nvSpPr>
        <p:spPr>
          <a:xfrm>
            <a:off x="8066836" y="1554480"/>
            <a:ext cx="3393338"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ctr"/>
            <a:r>
              <a:rPr sz="1600" b="1" i="0">
                <a:solidFill>
                  <a:srgbClr val="0F172A"/>
                </a:solidFill>
                <a:latin typeface="Georgia"/>
              </a:rPr>
              <a:t>🪪 Self-Sovereign Identity</a:t>
            </a:r>
          </a:p>
          <a:p>
            <a:pPr>
              <a:spcBef>
                <a:spcPts val="800"/>
              </a:spcBef>
            </a:pPr>
            <a:r>
              <a:rPr sz="1300" b="1" i="0">
                <a:solidFill>
                  <a:srgbClr val="0F172A"/>
                </a:solidFill>
                <a:latin typeface="Calibri"/>
              </a:rPr>
              <a:t>• Age Verification: </a:t>
            </a:r>
            <a:r>
              <a:rPr sz="1300" b="0" i="0">
                <a:solidFill>
                  <a:srgbClr val="334155"/>
                </a:solidFill>
                <a:latin typeface="Calibri"/>
              </a:rPr>
              <a:t>Prove age &gt; 18 without showing birthdate.</a:t>
            </a:r>
          </a:p>
          <a:p>
            <a:pPr>
              <a:spcBef>
                <a:spcPts val="800"/>
              </a:spcBef>
            </a:pPr>
            <a:r>
              <a:rPr sz="1300" b="1" i="0">
                <a:solidFill>
                  <a:srgbClr val="0F172A"/>
                </a:solidFill>
                <a:latin typeface="Calibri"/>
              </a:rPr>
              <a:t>• Credit Checks: </a:t>
            </a:r>
            <a:r>
              <a:rPr sz="1300" b="0" i="0">
                <a:solidFill>
                  <a:srgbClr val="334155"/>
                </a:solidFill>
                <a:latin typeface="Calibri"/>
              </a:rPr>
              <a:t>Prove credit score &gt; 700 without disclosing salary.</a:t>
            </a:r>
          </a:p>
          <a:p>
            <a:pPr>
              <a:spcBef>
                <a:spcPts val="800"/>
              </a:spcBef>
            </a:pPr>
            <a:r>
              <a:rPr sz="1300" b="1" i="0">
                <a:solidFill>
                  <a:srgbClr val="0F172A"/>
                </a:solidFill>
                <a:latin typeface="Calibri"/>
              </a:rPr>
              <a:t>• Decentralized Logins: </a:t>
            </a:r>
            <a:r>
              <a:rPr sz="1300" b="0" i="0">
                <a:solidFill>
                  <a:srgbClr val="334155"/>
                </a:solidFill>
                <a:latin typeface="Calibri"/>
              </a:rPr>
              <a:t>Log into websites without transmitting passwords.</a:t>
            </a:r>
          </a:p>
        </p:txBody>
      </p:sp>
      <p:sp>
        <p:nvSpPr>
          <p:cNvPr id="8" name="Rounded Rectangle 7"/>
          <p:cNvSpPr/>
          <p:nvPr/>
        </p:nvSpPr>
        <p:spPr>
          <a:xfrm>
            <a:off x="731520" y="5760720"/>
            <a:ext cx="10728655" cy="64008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300" b="1" i="0">
                <a:solidFill>
                  <a:srgbClr val="4338CA"/>
                </a:solidFill>
                <a:latin typeface="Calibri"/>
              </a:rPr>
              <a:t>💡 KEY TAKEAWAY:  </a:t>
            </a:r>
            <a:r>
              <a:rPr sz="1300" b="0" i="0">
                <a:solidFill>
                  <a:srgbClr val="1E1B4B"/>
                </a:solidFill>
                <a:latin typeface="Calibri"/>
              </a:rPr>
              <a:t>ZKPs uniquely solve the dual challenges of data privacy and blockchain scalability.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731520" y="365760"/>
            <a:ext cx="10728655"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320040"/>
          </a:xfrm>
          <a:prstGeom prst="rect">
            <a:avLst/>
          </a:prstGeom>
          <a:noFill/>
        </p:spPr>
        <p:txBody>
          <a:bodyPr wrap="square" lIns="0" tIns="0" rIns="0" bIns="0">
            <a:spAutoFit/>
          </a:bodyPr>
          <a:lstStyle/>
          <a:p>
            <a:r>
              <a:rPr sz="1100" b="1" i="0">
                <a:solidFill>
                  <a:srgbClr val="6366F1"/>
                </a:solidFill>
                <a:latin typeface="Arial"/>
              </a:rPr>
              <a:t>7. REAL-WORLD CASE STUDIES</a:t>
            </a:r>
          </a:p>
        </p:txBody>
      </p:sp>
      <p:sp>
        <p:nvSpPr>
          <p:cNvPr id="4" name="TextBox 3"/>
          <p:cNvSpPr txBox="1"/>
          <p:nvPr/>
        </p:nvSpPr>
        <p:spPr>
          <a:xfrm>
            <a:off x="731520" y="777240"/>
            <a:ext cx="10728655" cy="640080"/>
          </a:xfrm>
          <a:prstGeom prst="rect">
            <a:avLst/>
          </a:prstGeom>
          <a:noFill/>
        </p:spPr>
        <p:txBody>
          <a:bodyPr wrap="square" lIns="0" tIns="0" rIns="0" bIns="0">
            <a:spAutoFit/>
          </a:bodyPr>
          <a:lstStyle/>
          <a:p>
            <a:r>
              <a:rPr sz="2400" b="1" i="0">
                <a:solidFill>
                  <a:srgbClr val="0F172A"/>
                </a:solidFill>
                <a:latin typeface="Georgia"/>
              </a:rPr>
              <a:t>Case Studies: Leading ZK Implementations</a:t>
            </a:r>
          </a:p>
        </p:txBody>
      </p:sp>
      <p:sp>
        <p:nvSpPr>
          <p:cNvPr id="5" name="Rounded Rectangle 4"/>
          <p:cNvSpPr/>
          <p:nvPr/>
        </p:nvSpPr>
        <p:spPr>
          <a:xfrm>
            <a:off x="731520" y="1554480"/>
            <a:ext cx="3393338"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ctr"/>
            <a:r>
              <a:rPr sz="1600" b="1" i="0">
                <a:solidFill>
                  <a:srgbClr val="0F172A"/>
                </a:solidFill>
                <a:latin typeface="Georgia"/>
              </a:rPr>
              <a:t>💰 Zcash (Private Currency)</a:t>
            </a:r>
          </a:p>
          <a:p>
            <a:pPr>
              <a:spcBef>
                <a:spcPts val="800"/>
              </a:spcBef>
            </a:pPr>
            <a:r>
              <a:rPr sz="1300" b="1" i="0">
                <a:solidFill>
                  <a:srgbClr val="0F172A"/>
                </a:solidFill>
                <a:latin typeface="Calibri"/>
              </a:rPr>
              <a:t>• Pioneer: </a:t>
            </a:r>
            <a:r>
              <a:rPr sz="1300" b="0" i="0">
                <a:solidFill>
                  <a:srgbClr val="334155"/>
                </a:solidFill>
                <a:latin typeface="Calibri"/>
              </a:rPr>
              <a:t>First major cryptocurrency to implement ZK-SNARKs.</a:t>
            </a:r>
          </a:p>
          <a:p>
            <a:pPr>
              <a:spcBef>
                <a:spcPts val="800"/>
              </a:spcBef>
            </a:pPr>
            <a:r>
              <a:rPr sz="1300" b="1" i="0">
                <a:solidFill>
                  <a:srgbClr val="0F172A"/>
                </a:solidFill>
                <a:latin typeface="Calibri"/>
              </a:rPr>
              <a:t>• Shielded Pools: </a:t>
            </a:r>
            <a:r>
              <a:rPr sz="1300" b="0" i="0">
                <a:solidFill>
                  <a:srgbClr val="334155"/>
                </a:solidFill>
                <a:latin typeface="Calibri"/>
              </a:rPr>
              <a:t>Allows users to choose between transparent and fully encrypted transactions.</a:t>
            </a:r>
          </a:p>
          <a:p>
            <a:pPr>
              <a:spcBef>
                <a:spcPts val="800"/>
              </a:spcBef>
            </a:pPr>
            <a:r>
              <a:rPr sz="1300" b="1" i="0">
                <a:solidFill>
                  <a:srgbClr val="0F172A"/>
                </a:solidFill>
                <a:latin typeface="Calibri"/>
              </a:rPr>
              <a:t>• Impact: </a:t>
            </a:r>
            <a:r>
              <a:rPr sz="1300" b="0" i="0">
                <a:solidFill>
                  <a:srgbClr val="334155"/>
                </a:solidFill>
                <a:latin typeface="Calibri"/>
              </a:rPr>
              <a:t>Proved that cryptographic privacy is viable on a global scale.</a:t>
            </a:r>
          </a:p>
        </p:txBody>
      </p:sp>
      <p:sp>
        <p:nvSpPr>
          <p:cNvPr id="6" name="Rounded Rectangle 5"/>
          <p:cNvSpPr/>
          <p:nvPr/>
        </p:nvSpPr>
        <p:spPr>
          <a:xfrm>
            <a:off x="4399178" y="1554480"/>
            <a:ext cx="3393338" cy="3931920"/>
          </a:xfrm>
          <a:prstGeom prst="roundRect">
            <a:avLst/>
          </a:prstGeom>
          <a:solidFill>
            <a:srgbClr val="FFFF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ctr"/>
            <a:r>
              <a:rPr sz="1600" b="1" i="0">
                <a:solidFill>
                  <a:srgbClr val="1E1B4B"/>
                </a:solidFill>
                <a:latin typeface="Georgia"/>
              </a:rPr>
              <a:t>⚡ zkSync &amp; Starknet (L2 Scaling)</a:t>
            </a:r>
          </a:p>
          <a:p>
            <a:pPr>
              <a:spcBef>
                <a:spcPts val="800"/>
              </a:spcBef>
            </a:pPr>
            <a:r>
              <a:rPr sz="1300" b="1" i="0">
                <a:solidFill>
                  <a:srgbClr val="0F172A"/>
                </a:solidFill>
                <a:latin typeface="Calibri"/>
              </a:rPr>
              <a:t>• Mechanism: </a:t>
            </a:r>
            <a:r>
              <a:rPr sz="1300" b="0" i="0">
                <a:solidFill>
                  <a:srgbClr val="334155"/>
                </a:solidFill>
                <a:latin typeface="Calibri"/>
              </a:rPr>
              <a:t>Execute massive transaction volumes off-chain using ZK-Rollups.</a:t>
            </a:r>
          </a:p>
          <a:p>
            <a:pPr>
              <a:spcBef>
                <a:spcPts val="800"/>
              </a:spcBef>
            </a:pPr>
            <a:r>
              <a:rPr sz="1300" b="1" i="0">
                <a:solidFill>
                  <a:srgbClr val="0F172A"/>
                </a:solidFill>
                <a:latin typeface="Calibri"/>
              </a:rPr>
              <a:t>• Performance: </a:t>
            </a:r>
            <a:r>
              <a:rPr sz="1300" b="0" i="0">
                <a:solidFill>
                  <a:srgbClr val="334155"/>
                </a:solidFill>
                <a:latin typeface="Calibri"/>
              </a:rPr>
              <a:t>Thousands of Transactions Per Second (TPS) with Ethereum-grade security.</a:t>
            </a:r>
          </a:p>
          <a:p>
            <a:pPr>
              <a:spcBef>
                <a:spcPts val="800"/>
              </a:spcBef>
            </a:pPr>
            <a:r>
              <a:rPr sz="1300" b="1" i="0">
                <a:solidFill>
                  <a:srgbClr val="0F172A"/>
                </a:solidFill>
                <a:latin typeface="Calibri"/>
              </a:rPr>
              <a:t>• Cost: </a:t>
            </a:r>
            <a:r>
              <a:rPr sz="1300" b="0" i="0">
                <a:solidFill>
                  <a:srgbClr val="334155"/>
                </a:solidFill>
                <a:latin typeface="Calibri"/>
              </a:rPr>
              <a:t>Reduces transaction costs from $10+ down to pennies.</a:t>
            </a:r>
          </a:p>
        </p:txBody>
      </p:sp>
      <p:sp>
        <p:nvSpPr>
          <p:cNvPr id="7" name="Rounded Rectangle 6"/>
          <p:cNvSpPr/>
          <p:nvPr/>
        </p:nvSpPr>
        <p:spPr>
          <a:xfrm>
            <a:off x="8066836" y="1554480"/>
            <a:ext cx="3393338"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ctr"/>
            <a:r>
              <a:rPr sz="1600" b="1" i="0">
                <a:solidFill>
                  <a:srgbClr val="0F172A"/>
                </a:solidFill>
                <a:latin typeface="Georgia"/>
              </a:rPr>
              <a:t>🌐 Mina Protocol &amp; World ID</a:t>
            </a:r>
          </a:p>
          <a:p>
            <a:pPr>
              <a:spcBef>
                <a:spcPts val="800"/>
              </a:spcBef>
            </a:pPr>
            <a:r>
              <a:rPr sz="1300" b="1" i="0">
                <a:solidFill>
                  <a:srgbClr val="0F172A"/>
                </a:solidFill>
                <a:latin typeface="Calibri"/>
              </a:rPr>
              <a:t>• Mina: </a:t>
            </a:r>
            <a:r>
              <a:rPr sz="1300" b="0" i="0">
                <a:solidFill>
                  <a:srgbClr val="334155"/>
                </a:solidFill>
                <a:latin typeface="Calibri"/>
              </a:rPr>
              <a:t>The world's lightest blockchain (~22 KB fixed size) using recursive ZKPs.</a:t>
            </a:r>
          </a:p>
          <a:p>
            <a:pPr>
              <a:spcBef>
                <a:spcPts val="800"/>
              </a:spcBef>
            </a:pPr>
            <a:r>
              <a:rPr sz="1300" b="1" i="0">
                <a:solidFill>
                  <a:srgbClr val="0F172A"/>
                </a:solidFill>
                <a:latin typeface="Calibri"/>
              </a:rPr>
              <a:t>• World ID: </a:t>
            </a:r>
            <a:r>
              <a:rPr sz="1300" b="0" i="0">
                <a:solidFill>
                  <a:srgbClr val="334155"/>
                </a:solidFill>
                <a:latin typeface="Calibri"/>
              </a:rPr>
              <a:t>Proves uniqueness and 'humanness' anonymously without storing biometric data.</a:t>
            </a:r>
          </a:p>
          <a:p>
            <a:pPr>
              <a:spcBef>
                <a:spcPts val="800"/>
              </a:spcBef>
            </a:pPr>
            <a:r>
              <a:rPr sz="1300" b="1" i="0">
                <a:solidFill>
                  <a:srgbClr val="0F172A"/>
                </a:solidFill>
                <a:latin typeface="Calibri"/>
              </a:rPr>
              <a:t>• Impact: </a:t>
            </a:r>
            <a:r>
              <a:rPr sz="1300" b="0" i="0">
                <a:solidFill>
                  <a:srgbClr val="334155"/>
                </a:solidFill>
                <a:latin typeface="Calibri"/>
              </a:rPr>
              <a:t>Digital identity verification with zero surveillance.</a:t>
            </a:r>
          </a:p>
        </p:txBody>
      </p:sp>
      <p:sp>
        <p:nvSpPr>
          <p:cNvPr id="8" name="Rounded Rectangle 7"/>
          <p:cNvSpPr/>
          <p:nvPr/>
        </p:nvSpPr>
        <p:spPr>
          <a:xfrm>
            <a:off x="731520" y="5760720"/>
            <a:ext cx="10728655" cy="64008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300" b="1" i="0">
                <a:solidFill>
                  <a:srgbClr val="4338CA"/>
                </a:solidFill>
                <a:latin typeface="Calibri"/>
              </a:rPr>
              <a:t>💡 KEY TAKEAWAY:  </a:t>
            </a:r>
            <a:r>
              <a:rPr sz="1300" b="0" i="0">
                <a:solidFill>
                  <a:srgbClr val="1E1B4B"/>
                </a:solidFill>
                <a:latin typeface="Calibri"/>
              </a:rPr>
              <a:t>Major protocols like Zcash, zkSync, and Starknet prove ZKPs are production-ready today.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731520" y="365760"/>
            <a:ext cx="10728655"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320040"/>
          </a:xfrm>
          <a:prstGeom prst="rect">
            <a:avLst/>
          </a:prstGeom>
          <a:noFill/>
        </p:spPr>
        <p:txBody>
          <a:bodyPr wrap="square" lIns="0" tIns="0" rIns="0" bIns="0">
            <a:spAutoFit/>
          </a:bodyPr>
          <a:lstStyle/>
          <a:p>
            <a:r>
              <a:rPr sz="1100" b="1" i="0">
                <a:solidFill>
                  <a:srgbClr val="6366F1"/>
                </a:solidFill>
                <a:latin typeface="Arial"/>
              </a:rPr>
              <a:t>8. BENEFITS &amp; ADVANTAGES</a:t>
            </a:r>
          </a:p>
        </p:txBody>
      </p:sp>
      <p:sp>
        <p:nvSpPr>
          <p:cNvPr id="4" name="TextBox 3"/>
          <p:cNvSpPr txBox="1"/>
          <p:nvPr/>
        </p:nvSpPr>
        <p:spPr>
          <a:xfrm>
            <a:off x="731520" y="777240"/>
            <a:ext cx="10728655" cy="640080"/>
          </a:xfrm>
          <a:prstGeom prst="rect">
            <a:avLst/>
          </a:prstGeom>
          <a:noFill/>
        </p:spPr>
        <p:txBody>
          <a:bodyPr wrap="square" lIns="0" tIns="0" rIns="0" bIns="0">
            <a:spAutoFit/>
          </a:bodyPr>
          <a:lstStyle/>
          <a:p>
            <a:r>
              <a:rPr sz="2400" b="1" i="0">
                <a:solidFill>
                  <a:srgbClr val="0F172A"/>
                </a:solidFill>
                <a:latin typeface="Georgia"/>
              </a:rPr>
              <a:t>Why Zero-Knowledge Proofs are Revolutionary</a:t>
            </a:r>
          </a:p>
        </p:txBody>
      </p:sp>
      <p:sp>
        <p:nvSpPr>
          <p:cNvPr id="5" name="Rounded Rectangle 4"/>
          <p:cNvSpPr/>
          <p:nvPr/>
        </p:nvSpPr>
        <p:spPr>
          <a:xfrm>
            <a:off x="731520" y="1554480"/>
            <a:ext cx="3393338"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ctr"/>
            <a:r>
              <a:rPr sz="1600" b="1" i="0">
                <a:solidFill>
                  <a:srgbClr val="0F172A"/>
                </a:solidFill>
                <a:latin typeface="Georgia"/>
              </a:rPr>
              <a:t>🛡️ Total Data Privacy</a:t>
            </a:r>
          </a:p>
          <a:p>
            <a:pPr>
              <a:spcBef>
                <a:spcPts val="800"/>
              </a:spcBef>
            </a:pPr>
            <a:r>
              <a:rPr sz="1300" b="1" i="0">
                <a:solidFill>
                  <a:srgbClr val="0F172A"/>
                </a:solidFill>
                <a:latin typeface="Calibri"/>
              </a:rPr>
              <a:t>• Zero Data Leaks: </a:t>
            </a:r>
            <a:r>
              <a:rPr sz="1300" b="0" i="0">
                <a:solidFill>
                  <a:srgbClr val="334155"/>
                </a:solidFill>
                <a:latin typeface="Calibri"/>
              </a:rPr>
              <a:t>Eliminates the risk of database breaches and identity theft.</a:t>
            </a:r>
          </a:p>
          <a:p>
            <a:pPr>
              <a:spcBef>
                <a:spcPts val="800"/>
              </a:spcBef>
            </a:pPr>
            <a:r>
              <a:rPr sz="1300" b="1" i="0">
                <a:solidFill>
                  <a:srgbClr val="0F172A"/>
                </a:solidFill>
                <a:latin typeface="Calibri"/>
              </a:rPr>
              <a:t>• User Sovereignty: </a:t>
            </a:r>
            <a:r>
              <a:rPr sz="1300" b="0" i="0">
                <a:solidFill>
                  <a:srgbClr val="334155"/>
                </a:solidFill>
                <a:latin typeface="Calibri"/>
              </a:rPr>
              <a:t>You stay in 100% control of your confidential information.</a:t>
            </a:r>
          </a:p>
        </p:txBody>
      </p:sp>
      <p:sp>
        <p:nvSpPr>
          <p:cNvPr id="6" name="Rounded Rectangle 5"/>
          <p:cNvSpPr/>
          <p:nvPr/>
        </p:nvSpPr>
        <p:spPr>
          <a:xfrm>
            <a:off x="4399178" y="1554480"/>
            <a:ext cx="3393338" cy="3931920"/>
          </a:xfrm>
          <a:prstGeom prst="roundRect">
            <a:avLst/>
          </a:prstGeom>
          <a:solidFill>
            <a:srgbClr val="FFFF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ctr"/>
            <a:r>
              <a:rPr sz="1600" b="1" i="0">
                <a:solidFill>
                  <a:srgbClr val="1E1B4B"/>
                </a:solidFill>
                <a:latin typeface="Georgia"/>
              </a:rPr>
              <a:t>📉 Extreme Compression</a:t>
            </a:r>
          </a:p>
          <a:p>
            <a:pPr>
              <a:spcBef>
                <a:spcPts val="800"/>
              </a:spcBef>
            </a:pPr>
            <a:r>
              <a:rPr sz="1300" b="1" i="0">
                <a:solidFill>
                  <a:srgbClr val="0F172A"/>
                </a:solidFill>
                <a:latin typeface="Calibri"/>
              </a:rPr>
              <a:t>• Microscopic Proofs: </a:t>
            </a:r>
            <a:r>
              <a:rPr sz="1300" b="0" i="0">
                <a:solidFill>
                  <a:srgbClr val="334155"/>
                </a:solidFill>
                <a:latin typeface="Calibri"/>
              </a:rPr>
              <a:t>Verify gigabytes of complex computations in mere kilobytes.</a:t>
            </a:r>
          </a:p>
          <a:p>
            <a:pPr>
              <a:spcBef>
                <a:spcPts val="800"/>
              </a:spcBef>
            </a:pPr>
            <a:r>
              <a:rPr sz="1300" b="1" i="0">
                <a:solidFill>
                  <a:srgbClr val="0F172A"/>
                </a:solidFill>
                <a:latin typeface="Calibri"/>
              </a:rPr>
              <a:t>• High Throughput: </a:t>
            </a:r>
            <a:r>
              <a:rPr sz="1300" b="0" i="0">
                <a:solidFill>
                  <a:srgbClr val="334155"/>
                </a:solidFill>
                <a:latin typeface="Calibri"/>
              </a:rPr>
              <a:t>Allows decentralized networks to rival Visa-scale transaction speeds.</a:t>
            </a:r>
          </a:p>
        </p:txBody>
      </p:sp>
      <p:sp>
        <p:nvSpPr>
          <p:cNvPr id="7" name="Rounded Rectangle 6"/>
          <p:cNvSpPr/>
          <p:nvPr/>
        </p:nvSpPr>
        <p:spPr>
          <a:xfrm>
            <a:off x="8066836" y="1554480"/>
            <a:ext cx="3393338"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ctr"/>
            <a:r>
              <a:rPr sz="1600" b="1" i="0">
                <a:solidFill>
                  <a:srgbClr val="0F172A"/>
                </a:solidFill>
                <a:latin typeface="Georgia"/>
              </a:rPr>
              <a:t>🤝 Trustless Verification</a:t>
            </a:r>
          </a:p>
          <a:p>
            <a:pPr>
              <a:spcBef>
                <a:spcPts val="800"/>
              </a:spcBef>
            </a:pPr>
            <a:r>
              <a:rPr sz="1300" b="1" i="0">
                <a:solidFill>
                  <a:srgbClr val="0F172A"/>
                </a:solidFill>
                <a:latin typeface="Calibri"/>
              </a:rPr>
              <a:t>• Math &gt; Human Trust: </a:t>
            </a:r>
            <a:r>
              <a:rPr sz="1300" b="0" i="0">
                <a:solidFill>
                  <a:srgbClr val="334155"/>
                </a:solidFill>
                <a:latin typeface="Calibri"/>
              </a:rPr>
              <a:t>Replaces central authorities with cryptographic proofs.</a:t>
            </a:r>
          </a:p>
          <a:p>
            <a:pPr>
              <a:spcBef>
                <a:spcPts val="800"/>
              </a:spcBef>
            </a:pPr>
            <a:r>
              <a:rPr sz="1300" b="1" i="0">
                <a:solidFill>
                  <a:srgbClr val="0F172A"/>
                </a:solidFill>
                <a:latin typeface="Calibri"/>
              </a:rPr>
              <a:t>• Regulatory Friendly: </a:t>
            </a:r>
            <a:r>
              <a:rPr sz="1300" b="0" i="0">
                <a:solidFill>
                  <a:srgbClr val="334155"/>
                </a:solidFill>
                <a:latin typeface="Calibri"/>
              </a:rPr>
              <a:t>Prove compliance (e.g., solvency) without disclosing trade secrets.</a:t>
            </a:r>
          </a:p>
        </p:txBody>
      </p:sp>
      <p:sp>
        <p:nvSpPr>
          <p:cNvPr id="8" name="Rounded Rectangle 7"/>
          <p:cNvSpPr/>
          <p:nvPr/>
        </p:nvSpPr>
        <p:spPr>
          <a:xfrm>
            <a:off x="731520" y="5760720"/>
            <a:ext cx="10728655" cy="64008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300" b="1" i="0">
                <a:solidFill>
                  <a:srgbClr val="4338CA"/>
                </a:solidFill>
                <a:latin typeface="Calibri"/>
              </a:rPr>
              <a:t>💡 KEY TAKEAWAY:  </a:t>
            </a:r>
            <a:r>
              <a:rPr sz="1300" b="0" i="0">
                <a:solidFill>
                  <a:srgbClr val="1E1B4B"/>
                </a:solidFill>
                <a:latin typeface="Calibri"/>
              </a:rPr>
              <a:t>ZKPs deliver the holy grail: mathematical privacy, extreme compression, and trustless security.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731520" y="365760"/>
            <a:ext cx="10728655"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320040"/>
          </a:xfrm>
          <a:prstGeom prst="rect">
            <a:avLst/>
          </a:prstGeom>
          <a:noFill/>
        </p:spPr>
        <p:txBody>
          <a:bodyPr wrap="square" lIns="0" tIns="0" rIns="0" bIns="0">
            <a:spAutoFit/>
          </a:bodyPr>
          <a:lstStyle/>
          <a:p>
            <a:r>
              <a:rPr sz="1100" b="1" i="0">
                <a:solidFill>
                  <a:srgbClr val="6366F1"/>
                </a:solidFill>
                <a:latin typeface="Arial"/>
              </a:rPr>
              <a:t>9. CHALLENGES &amp; LIMITATIONS</a:t>
            </a:r>
          </a:p>
        </p:txBody>
      </p:sp>
      <p:sp>
        <p:nvSpPr>
          <p:cNvPr id="4" name="TextBox 3"/>
          <p:cNvSpPr txBox="1"/>
          <p:nvPr/>
        </p:nvSpPr>
        <p:spPr>
          <a:xfrm>
            <a:off x="731520" y="777240"/>
            <a:ext cx="10728655" cy="640080"/>
          </a:xfrm>
          <a:prstGeom prst="rect">
            <a:avLst/>
          </a:prstGeom>
          <a:noFill/>
        </p:spPr>
        <p:txBody>
          <a:bodyPr wrap="square" lIns="0" tIns="0" rIns="0" bIns="0">
            <a:spAutoFit/>
          </a:bodyPr>
          <a:lstStyle/>
          <a:p>
            <a:r>
              <a:rPr sz="2400" b="1" i="0">
                <a:solidFill>
                  <a:srgbClr val="0F172A"/>
                </a:solidFill>
                <a:latin typeface="Georgia"/>
              </a:rPr>
              <a:t>Current Engineering &amp; Adoption Challenges</a:t>
            </a:r>
          </a:p>
        </p:txBody>
      </p:sp>
      <p:sp>
        <p:nvSpPr>
          <p:cNvPr id="5" name="Rounded Rectangle 4"/>
          <p:cNvSpPr/>
          <p:nvPr/>
        </p:nvSpPr>
        <p:spPr>
          <a:xfrm>
            <a:off x="731520" y="1554480"/>
            <a:ext cx="521208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r>
              <a:rPr sz="1700" b="1" i="0">
                <a:solidFill>
                  <a:srgbClr val="0F172A"/>
                </a:solidFill>
                <a:latin typeface="Georgia"/>
              </a:rPr>
              <a:t>⚙️ Technical &amp; Computational Limits</a:t>
            </a:r>
          </a:p>
          <a:p>
            <a:pPr>
              <a:spcBef>
                <a:spcPts val="800"/>
              </a:spcBef>
            </a:pPr>
            <a:r>
              <a:rPr sz="1300" b="1" i="0">
                <a:solidFill>
                  <a:srgbClr val="0F172A"/>
                </a:solidFill>
                <a:latin typeface="Calibri"/>
              </a:rPr>
              <a:t>• High Prover Overhead: </a:t>
            </a:r>
            <a:r>
              <a:rPr sz="1300" b="0" i="0">
                <a:solidFill>
                  <a:srgbClr val="334155"/>
                </a:solidFill>
                <a:latin typeface="Calibri"/>
              </a:rPr>
              <a:t>Generating complex ZK proofs requires intensive CPU/GPU processing power.</a:t>
            </a:r>
          </a:p>
          <a:p>
            <a:pPr>
              <a:spcBef>
                <a:spcPts val="800"/>
              </a:spcBef>
            </a:pPr>
            <a:r>
              <a:rPr sz="1300" b="1" i="0">
                <a:solidFill>
                  <a:srgbClr val="0F172A"/>
                </a:solidFill>
                <a:latin typeface="Calibri"/>
              </a:rPr>
              <a:t>• Circuit Complexity: </a:t>
            </a:r>
            <a:r>
              <a:rPr sz="1300" b="0" i="0">
                <a:solidFill>
                  <a:srgbClr val="334155"/>
                </a:solidFill>
                <a:latin typeface="Calibri"/>
              </a:rPr>
              <a:t>Writing bug-free ZK programs (circuits) requires specialized cryptographic engineering.</a:t>
            </a:r>
          </a:p>
          <a:p>
            <a:pPr>
              <a:spcBef>
                <a:spcPts val="800"/>
              </a:spcBef>
            </a:pPr>
            <a:r>
              <a:rPr sz="1300" b="1" i="0">
                <a:solidFill>
                  <a:srgbClr val="0F172A"/>
                </a:solidFill>
                <a:latin typeface="Calibri"/>
              </a:rPr>
              <a:t>• Hardware Demands: </a:t>
            </a:r>
            <a:r>
              <a:rPr sz="1300" b="0" i="0">
                <a:solidFill>
                  <a:srgbClr val="334155"/>
                </a:solidFill>
                <a:latin typeface="Calibri"/>
              </a:rPr>
              <a:t>Mobile devices struggle to generate advanced proofs locally without cloud assistance.</a:t>
            </a:r>
          </a:p>
        </p:txBody>
      </p:sp>
      <p:sp>
        <p:nvSpPr>
          <p:cNvPr id="6" name="Rounded Rectangle 5"/>
          <p:cNvSpPr/>
          <p:nvPr/>
        </p:nvSpPr>
        <p:spPr>
          <a:xfrm>
            <a:off x="6248095" y="1554480"/>
            <a:ext cx="5212080" cy="3931920"/>
          </a:xfrm>
          <a:prstGeom prst="roundRect">
            <a:avLst/>
          </a:prstGeom>
          <a:solidFill>
            <a:srgbClr val="FFFF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r>
              <a:rPr sz="1700" b="1" i="0">
                <a:solidFill>
                  <a:srgbClr val="1E1B4B"/>
                </a:solidFill>
                <a:latin typeface="Georgia"/>
              </a:rPr>
              <a:t>🏛️ Governance &amp; Regulatory Scrutiny</a:t>
            </a:r>
          </a:p>
          <a:p>
            <a:pPr>
              <a:spcBef>
                <a:spcPts val="800"/>
              </a:spcBef>
            </a:pPr>
            <a:r>
              <a:rPr sz="1300" b="1" i="0">
                <a:solidFill>
                  <a:srgbClr val="0F172A"/>
                </a:solidFill>
                <a:latin typeface="Calibri"/>
              </a:rPr>
              <a:t>• Regulatory Concerns: </a:t>
            </a:r>
            <a:r>
              <a:rPr sz="1300" b="0" i="0">
                <a:solidFill>
                  <a:srgbClr val="334155"/>
                </a:solidFill>
                <a:latin typeface="Calibri"/>
              </a:rPr>
              <a:t>Governments worry privacy tools could facilitate illicit transactions or tax evasion.</a:t>
            </a:r>
          </a:p>
          <a:p>
            <a:pPr>
              <a:spcBef>
                <a:spcPts val="800"/>
              </a:spcBef>
            </a:pPr>
            <a:r>
              <a:rPr sz="1300" b="1" i="0">
                <a:solidFill>
                  <a:srgbClr val="0F172A"/>
                </a:solidFill>
                <a:latin typeface="Calibri"/>
              </a:rPr>
              <a:t>• Compliance Balancing: </a:t>
            </a:r>
            <a:r>
              <a:rPr sz="1300" b="0" i="0">
                <a:solidFill>
                  <a:srgbClr val="334155"/>
                </a:solidFill>
                <a:latin typeface="Calibri"/>
              </a:rPr>
              <a:t>Building 'programmable privacy' that satisfies both user privacy and law enforcement audits.</a:t>
            </a:r>
          </a:p>
          <a:p>
            <a:pPr>
              <a:spcBef>
                <a:spcPts val="800"/>
              </a:spcBef>
            </a:pPr>
            <a:r>
              <a:rPr sz="1300" b="1" i="0">
                <a:solidFill>
                  <a:srgbClr val="0F172A"/>
                </a:solidFill>
                <a:latin typeface="Calibri"/>
              </a:rPr>
              <a:t>• User Experience (UX): </a:t>
            </a:r>
            <a:r>
              <a:rPr sz="1300" b="0" i="0">
                <a:solidFill>
                  <a:srgbClr val="334155"/>
                </a:solidFill>
                <a:latin typeface="Calibri"/>
              </a:rPr>
              <a:t>Wallets and tools need to simplify complex key management for everyday users.</a:t>
            </a:r>
          </a:p>
        </p:txBody>
      </p:sp>
      <p:sp>
        <p:nvSpPr>
          <p:cNvPr id="7" name="Rounded Rectangle 6"/>
          <p:cNvSpPr/>
          <p:nvPr/>
        </p:nvSpPr>
        <p:spPr>
          <a:xfrm>
            <a:off x="731520" y="5760720"/>
            <a:ext cx="10728655" cy="64008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300" b="1" i="0">
                <a:solidFill>
                  <a:srgbClr val="4338CA"/>
                </a:solidFill>
                <a:latin typeface="Calibri"/>
              </a:rPr>
              <a:t>💡 KEY TAKEAWAY:  </a:t>
            </a:r>
            <a:r>
              <a:rPr sz="1300" b="0" i="0">
                <a:solidFill>
                  <a:srgbClr val="1E1B4B"/>
                </a:solidFill>
                <a:latin typeface="Calibri"/>
              </a:rPr>
              <a:t>High computational proving costs and regulatory friction are the primary challenges being solved.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731520" y="365760"/>
            <a:ext cx="10728655"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320040"/>
          </a:xfrm>
          <a:prstGeom prst="rect">
            <a:avLst/>
          </a:prstGeom>
          <a:noFill/>
        </p:spPr>
        <p:txBody>
          <a:bodyPr wrap="square" lIns="0" tIns="0" rIns="0" bIns="0">
            <a:spAutoFit/>
          </a:bodyPr>
          <a:lstStyle/>
          <a:p>
            <a:r>
              <a:rPr sz="1100" b="1" i="0">
                <a:solidFill>
                  <a:srgbClr val="6366F1"/>
                </a:solidFill>
                <a:latin typeface="Arial"/>
              </a:rPr>
              <a:t>10. FUTURE OUTLOOK</a:t>
            </a:r>
          </a:p>
        </p:txBody>
      </p:sp>
      <p:sp>
        <p:nvSpPr>
          <p:cNvPr id="4" name="TextBox 3"/>
          <p:cNvSpPr txBox="1"/>
          <p:nvPr/>
        </p:nvSpPr>
        <p:spPr>
          <a:xfrm>
            <a:off x="731520" y="777240"/>
            <a:ext cx="10728655" cy="640080"/>
          </a:xfrm>
          <a:prstGeom prst="rect">
            <a:avLst/>
          </a:prstGeom>
          <a:noFill/>
        </p:spPr>
        <p:txBody>
          <a:bodyPr wrap="square" lIns="0" tIns="0" rIns="0" bIns="0">
            <a:spAutoFit/>
          </a:bodyPr>
          <a:lstStyle/>
          <a:p>
            <a:r>
              <a:rPr sz="2400" b="1" i="0">
                <a:solidFill>
                  <a:srgbClr val="0F172A"/>
                </a:solidFill>
                <a:latin typeface="Georgia"/>
              </a:rPr>
              <a:t>The Future of Privacy: What Lies Ahead?</a:t>
            </a:r>
          </a:p>
        </p:txBody>
      </p:sp>
      <p:sp>
        <p:nvSpPr>
          <p:cNvPr id="5" name="Rounded Rectangle 4"/>
          <p:cNvSpPr/>
          <p:nvPr/>
        </p:nvSpPr>
        <p:spPr>
          <a:xfrm>
            <a:off x="731520" y="1554480"/>
            <a:ext cx="3393338"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ctr"/>
            <a:r>
              <a:rPr sz="1600" b="1" i="0">
                <a:solidFill>
                  <a:srgbClr val="0F172A"/>
                </a:solidFill>
                <a:latin typeface="Georgia"/>
              </a:rPr>
              <a:t>🏎️ Hardware Acceleration</a:t>
            </a:r>
          </a:p>
          <a:p>
            <a:pPr>
              <a:spcBef>
                <a:spcPts val="800"/>
              </a:spcBef>
            </a:pPr>
            <a:r>
              <a:rPr sz="1300" b="1" i="0">
                <a:solidFill>
                  <a:srgbClr val="0F172A"/>
                </a:solidFill>
                <a:latin typeface="Calibri"/>
              </a:rPr>
              <a:t>• Dedicated ZK-ASICs: </a:t>
            </a:r>
            <a:r>
              <a:rPr sz="1300" b="0" i="0">
                <a:solidFill>
                  <a:srgbClr val="334155"/>
                </a:solidFill>
                <a:latin typeface="Calibri"/>
              </a:rPr>
              <a:t>Custom silicon chips making proof generation 100x faster.</a:t>
            </a:r>
          </a:p>
          <a:p>
            <a:pPr>
              <a:spcBef>
                <a:spcPts val="800"/>
              </a:spcBef>
            </a:pPr>
            <a:r>
              <a:rPr sz="1300" b="1" i="0">
                <a:solidFill>
                  <a:srgbClr val="0F172A"/>
                </a:solidFill>
                <a:latin typeface="Calibri"/>
              </a:rPr>
              <a:t>• Client-Side Proving: </a:t>
            </a:r>
            <a:r>
              <a:rPr sz="1300" b="0" i="0">
                <a:solidFill>
                  <a:srgbClr val="334155"/>
                </a:solidFill>
                <a:latin typeface="Calibri"/>
              </a:rPr>
              <a:t>Phones generating proofs in under 1 second.</a:t>
            </a:r>
          </a:p>
        </p:txBody>
      </p:sp>
      <p:sp>
        <p:nvSpPr>
          <p:cNvPr id="6" name="Rounded Rectangle 5"/>
          <p:cNvSpPr/>
          <p:nvPr/>
        </p:nvSpPr>
        <p:spPr>
          <a:xfrm>
            <a:off x="4399178" y="1554480"/>
            <a:ext cx="3393338" cy="3931920"/>
          </a:xfrm>
          <a:prstGeom prst="roundRect">
            <a:avLst/>
          </a:prstGeom>
          <a:solidFill>
            <a:srgbClr val="FFFF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ctr"/>
            <a:r>
              <a:rPr sz="1600" b="1" i="0">
                <a:solidFill>
                  <a:srgbClr val="1E1B4B"/>
                </a:solidFill>
                <a:latin typeface="Georgia"/>
              </a:rPr>
              <a:t>🌐 Web2 &amp; AI Integration</a:t>
            </a:r>
          </a:p>
          <a:p>
            <a:pPr>
              <a:spcBef>
                <a:spcPts val="800"/>
              </a:spcBef>
            </a:pPr>
            <a:r>
              <a:rPr sz="1300" b="1" i="0">
                <a:solidFill>
                  <a:srgbClr val="0F172A"/>
                </a:solidFill>
                <a:latin typeface="Calibri"/>
              </a:rPr>
              <a:t>• ZK-Machine Learning (ZK-ML): </a:t>
            </a:r>
            <a:r>
              <a:rPr sz="1300" b="0" i="0">
                <a:solidFill>
                  <a:srgbClr val="334155"/>
                </a:solidFill>
                <a:latin typeface="Calibri"/>
              </a:rPr>
              <a:t>Proving AI models ran correctly without exposing private training data.</a:t>
            </a:r>
          </a:p>
          <a:p>
            <a:pPr>
              <a:spcBef>
                <a:spcPts val="800"/>
              </a:spcBef>
            </a:pPr>
            <a:r>
              <a:rPr sz="1300" b="1" i="0">
                <a:solidFill>
                  <a:srgbClr val="0F172A"/>
                </a:solidFill>
                <a:latin typeface="Calibri"/>
              </a:rPr>
              <a:t>• Enterprise Adoption: </a:t>
            </a:r>
            <a:r>
              <a:rPr sz="1300" b="0" i="0">
                <a:solidFill>
                  <a:srgbClr val="334155"/>
                </a:solidFill>
                <a:latin typeface="Calibri"/>
              </a:rPr>
              <a:t>Banks settling transactions privately on public blockchains.</a:t>
            </a:r>
          </a:p>
        </p:txBody>
      </p:sp>
      <p:sp>
        <p:nvSpPr>
          <p:cNvPr id="7" name="Rounded Rectangle 6"/>
          <p:cNvSpPr/>
          <p:nvPr/>
        </p:nvSpPr>
        <p:spPr>
          <a:xfrm>
            <a:off x="8066836" y="1554480"/>
            <a:ext cx="3393338"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ctr"/>
            <a:r>
              <a:rPr sz="1600" b="1" i="0">
                <a:solidFill>
                  <a:srgbClr val="0F172A"/>
                </a:solidFill>
                <a:latin typeface="Georgia"/>
              </a:rPr>
              <a:t>🔐 The New Internet Standard</a:t>
            </a:r>
          </a:p>
          <a:p>
            <a:pPr>
              <a:spcBef>
                <a:spcPts val="800"/>
              </a:spcBef>
            </a:pPr>
            <a:r>
              <a:rPr sz="1300" b="1" i="0">
                <a:solidFill>
                  <a:srgbClr val="0F172A"/>
                </a:solidFill>
                <a:latin typeface="Calibri"/>
              </a:rPr>
              <a:t>• Default Privacy: </a:t>
            </a:r>
            <a:r>
              <a:rPr sz="1300" b="0" i="0">
                <a:solidFill>
                  <a:srgbClr val="334155"/>
                </a:solidFill>
                <a:latin typeface="Calibri"/>
              </a:rPr>
              <a:t>Proving credentials without ever sending passwords or IDs over the web.</a:t>
            </a:r>
          </a:p>
          <a:p>
            <a:pPr>
              <a:spcBef>
                <a:spcPts val="800"/>
              </a:spcBef>
            </a:pPr>
            <a:r>
              <a:rPr sz="1300" b="1" i="0">
                <a:solidFill>
                  <a:srgbClr val="0F172A"/>
                </a:solidFill>
                <a:latin typeface="Calibri"/>
              </a:rPr>
              <a:t>• Massive Scaling: </a:t>
            </a:r>
            <a:r>
              <a:rPr sz="1300" b="0" i="0">
                <a:solidFill>
                  <a:srgbClr val="334155"/>
                </a:solidFill>
                <a:latin typeface="Calibri"/>
              </a:rPr>
              <a:t>Powering the next billion users on decentralized infrastructure.</a:t>
            </a:r>
          </a:p>
        </p:txBody>
      </p:sp>
      <p:sp>
        <p:nvSpPr>
          <p:cNvPr id="8" name="Rounded Rectangle 7"/>
          <p:cNvSpPr/>
          <p:nvPr/>
        </p:nvSpPr>
        <p:spPr>
          <a:xfrm>
            <a:off x="731520" y="5760720"/>
            <a:ext cx="10728655" cy="64008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300" b="1" i="0">
                <a:solidFill>
                  <a:srgbClr val="4338CA"/>
                </a:solidFill>
                <a:latin typeface="Calibri"/>
              </a:rPr>
              <a:t>💡 KEY TAKEAWAY:  </a:t>
            </a:r>
            <a:r>
              <a:rPr sz="1300" b="0" i="0">
                <a:solidFill>
                  <a:srgbClr val="1E1B4B"/>
                </a:solidFill>
                <a:latin typeface="Calibri"/>
              </a:rPr>
              <a:t>ZKPs are evolving from an experimental niche into the core privacy standard of the internet.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1097280" y="1645920"/>
            <a:ext cx="109728" cy="32918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63040" y="1645920"/>
            <a:ext cx="9601200" cy="3474720"/>
          </a:xfrm>
          <a:prstGeom prst="rect">
            <a:avLst/>
          </a:prstGeom>
          <a:noFill/>
        </p:spPr>
        <p:txBody>
          <a:bodyPr wrap="square">
            <a:spAutoFit/>
          </a:bodyPr>
          <a:lstStyle/>
          <a:p>
            <a:r>
              <a:rPr sz="1300" b="1" i="0">
                <a:solidFill>
                  <a:srgbClr val="818CF8"/>
                </a:solidFill>
                <a:latin typeface="Arial"/>
              </a:rPr>
              <a:t>CONCLUSION &amp; DISCUSSION</a:t>
            </a:r>
          </a:p>
          <a:p>
            <a:pPr>
              <a:spcBef>
                <a:spcPts val="1400"/>
              </a:spcBef>
            </a:pPr>
            <a:r>
              <a:rPr sz="3800" b="1" i="0">
                <a:solidFill>
                  <a:srgbClr val="F8FAFC"/>
                </a:solidFill>
                <a:latin typeface="Georgia"/>
              </a:rPr>
              <a:t>Thank You! Questions &amp; Discussion</a:t>
            </a:r>
          </a:p>
          <a:p>
            <a:pPr>
              <a:spcBef>
                <a:spcPts val="1600"/>
              </a:spcBef>
            </a:pPr>
            <a:r>
              <a:rPr sz="1800" b="0" i="0">
                <a:solidFill>
                  <a:srgbClr val="CBD5E1"/>
                </a:solidFill>
                <a:latin typeface="Calibri"/>
              </a:rPr>
              <a:t>"Privacy is not about having something to hide; it is about protecting what is yours."
Key Takeaways: 1. Prove truth without revealing secrets  |  2. Scale networks  |  3. Protect digital identity
Open for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408</TotalTime>
  <Words>2333</Words>
  <Application>Microsoft Office PowerPoint</Application>
  <PresentationFormat>Widescreen</PresentationFormat>
  <Paragraphs>149</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Malik Saad Khawar</cp:lastModifiedBy>
  <cp:revision>1</cp:revision>
  <dcterms:created xsi:type="dcterms:W3CDTF">2013-01-27T09:14:16Z</dcterms:created>
  <dcterms:modified xsi:type="dcterms:W3CDTF">2026-09-04T13:03:01Z</dcterms:modified>
  <cp:category/>
</cp:coreProperties>
</file>